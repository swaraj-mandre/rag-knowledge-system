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9144000"/>
  <p:notesSz cx="6888150" cy="10018700"/>
  <p:embeddedFontLst>
    <p:embeddedFont>
      <p:font typeface="Robot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0" roundtripDataSignature="AMtx7mjTab/VTspyjnmQMB8VmHFOIzRb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oboto-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italic.fntdata"/><Relationship Id="rId23" Type="http://schemas.openxmlformats.org/officeDocument/2006/relationships/slide" Target="slides/slide18.xml"/><Relationship Id="rId67" Type="http://schemas.openxmlformats.org/officeDocument/2006/relationships/font" Target="fonts/Roboto-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4871" cy="502676"/>
          </a:xfrm>
          <a:prstGeom prst="rect">
            <a:avLst/>
          </a:prstGeom>
          <a:noFill/>
          <a:ln>
            <a:noFill/>
          </a:ln>
        </p:spPr>
        <p:txBody>
          <a:bodyPr anchorCtr="0" anchor="t"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01698" y="0"/>
            <a:ext cx="2984871" cy="502676"/>
          </a:xfrm>
          <a:prstGeom prst="rect">
            <a:avLst/>
          </a:prstGeom>
          <a:noFill/>
          <a:ln>
            <a:noFill/>
          </a:ln>
        </p:spPr>
        <p:txBody>
          <a:bodyPr anchorCtr="0" anchor="t"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16039"/>
            <a:ext cx="2984871" cy="502674"/>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08" name="Google Shape;108;p2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55f9865c41_0_10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21" name="Google Shape;121;g255f9865c41_0_10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5f9865c41_0_12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35" name="Google Shape;135;g255f9865c41_0_12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5f9865c41_0_13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48" name="Google Shape;148;g255f9865c41_0_13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55f9865c41_0_1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61" name="Google Shape;161;g255f9865c41_0_1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55f9865c41_0_2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74" name="Google Shape;174;g255f9865c41_0_2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55f9865c41_0_3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87" name="Google Shape;187;g255f9865c41_0_3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55f9865c41_0_5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00" name="Google Shape;200;g255f9865c41_0_5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55f9865c41_0_6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13" name="Google Shape;213;g255f9865c41_0_6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5f9865c41_0_7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26" name="Google Shape;226;g255f9865c41_0_7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5f9865c41_0_9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39" name="Google Shape;239;g255f9865c41_0_9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5f9865c41_1_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53" name="Google Shape;253;g255f9865c41_1_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5f9865c41_1_1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67" name="Google Shape;267;g255f9865c41_1_1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55f9865c41_1_2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81" name="Google Shape;281;g255f9865c41_1_2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55f9865c41_1_4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95" name="Google Shape;295;g255f9865c41_1_4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55f9865c41_1_5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09" name="Google Shape;309;g255f9865c41_1_5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55f9865c41_1_7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23" name="Google Shape;323;g255f9865c41_1_7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55f9865c41_1_8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37" name="Google Shape;337;g255f9865c41_1_8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55f9865c41_1_9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51" name="Google Shape;351;g255f9865c41_1_9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55f9865c41_1_11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65" name="Google Shape;365;g255f9865c41_1_11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55f9865c41_1_12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79" name="Google Shape;379;g255f9865c41_1_12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55f9865c41_1_14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93" name="Google Shape;393;g255f9865c41_1_14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55f9865c41_1_21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07" name="Google Shape;407;g255f9865c41_1_21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55f9865c41_1_22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21" name="Google Shape;421;g255f9865c41_1_22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55f9865c41_1_24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35" name="Google Shape;435;g255f9865c41_1_24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55f9865c41_1_25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49" name="Google Shape;449;g255f9865c41_1_25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55f9865c41_1_27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63" name="Google Shape;463;g255f9865c41_1_27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55f9865c41_1_28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77" name="Google Shape;477;g255f9865c41_1_28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ab6fe3b29e_0_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ab6fe3b29e_0_0:notes"/>
          <p:cNvSpPr txBox="1"/>
          <p:nvPr>
            <p:ph idx="1" type="body"/>
          </p:nvPr>
        </p:nvSpPr>
        <p:spPr>
          <a:xfrm>
            <a:off x="688817" y="4821506"/>
            <a:ext cx="5510400" cy="3945000"/>
          </a:xfrm>
          <a:prstGeom prst="rect">
            <a:avLst/>
          </a:prstGeom>
        </p:spPr>
        <p:txBody>
          <a:bodyPr anchorCtr="0" anchor="t" bIns="48300" lIns="96600" spcFirstLastPara="1" rIns="96600" wrap="square" tIns="48300">
            <a:noAutofit/>
          </a:bodyPr>
          <a:lstStyle/>
          <a:p>
            <a:pPr indent="0" lvl="0" marL="0" rtl="0" algn="l">
              <a:spcBef>
                <a:spcPts val="0"/>
              </a:spcBef>
              <a:spcAft>
                <a:spcPts val="0"/>
              </a:spcAft>
              <a:buNone/>
            </a:pPr>
            <a:r>
              <a:t/>
            </a:r>
            <a:endParaRPr/>
          </a:p>
        </p:txBody>
      </p:sp>
      <p:sp>
        <p:nvSpPr>
          <p:cNvPr id="492" name="Google Shape;492;g3ab6fe3b29e_0_0:notes"/>
          <p:cNvSpPr txBox="1"/>
          <p:nvPr>
            <p:ph idx="12" type="sldNum"/>
          </p:nvPr>
        </p:nvSpPr>
        <p:spPr>
          <a:xfrm>
            <a:off x="3901698" y="9516039"/>
            <a:ext cx="2985000" cy="502800"/>
          </a:xfrm>
          <a:prstGeom prst="rect">
            <a:avLst/>
          </a:prstGeom>
        </p:spPr>
        <p:txBody>
          <a:bodyPr anchorCtr="0" anchor="b" bIns="48300" lIns="96600" spcFirstLastPara="1" rIns="96600" wrap="square" tIns="48300">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55f9865c41_1_15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99" name="Google Shape;499;g255f9865c41_1_15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55f9865c41_1_18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13" name="Google Shape;513;g255f9865c41_1_18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255f9865c41_1_19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28" name="Google Shape;528;g255f9865c41_1_19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55f9865c41_1_29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43" name="Google Shape;543;g255f9865c41_1_29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55f9865c41_1_31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58" name="Google Shape;558;g255f9865c41_1_31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55f9865c41_1_32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73" name="Google Shape;573;g255f9865c41_1_32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55f9865c41_1_34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88" name="Google Shape;588;g255f9865c41_1_34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55f9865c41_1_35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03" name="Google Shape;603;g255f9865c41_1_35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55f9865c41_1_37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18" name="Google Shape;618;g255f9865c41_1_37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55f9865c41_1_38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34" name="Google Shape;634;g255f9865c41_1_38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55f9865c41_1_40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49" name="Google Shape;649;g255f9865c41_1_40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55f9865c41_1_41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64" name="Google Shape;664;g255f9865c41_1_41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255f9865c41_1_43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79" name="Google Shape;679;g255f9865c41_1_43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55f9865c41_1_45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94" name="Google Shape;694;g255f9865c41_1_45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55f9865c41_1_48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10" name="Google Shape;710;g255f9865c41_1_48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255f9865c41_1_51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25" name="Google Shape;725;g255f9865c41_1_51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255f9865c41_1_53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40" name="Google Shape;740;g255f9865c41_1_53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255f986635b_0_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56" name="Google Shape;756;g255f986635b_0_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55f986635b_0_1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71" name="Google Shape;771;g255f986635b_0_1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55f986635b_0_3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86" name="Google Shape;786;g255f986635b_0_3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55f986635b_0_4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01" name="Google Shape;801;g255f986635b_0_4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55f986635b_0_6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16" name="Google Shape;816;g255f986635b_0_6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55f986635b_0_7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31" name="Google Shape;831;g255f986635b_0_7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255f986635b_0_9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46" name="Google Shape;846;g255f986635b_0_9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55f986635b_0_11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61" name="Google Shape;861;g255f986635b_0_11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55f986635b_0_12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76" name="Google Shape;876;g255f986635b_0_12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55f986635b_0_14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92" name="Google Shape;892;g255f986635b_0_14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e68271dbcd_1_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08" name="Google Shape;908;g2e68271dbcd_1_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e68271dbcd_1_2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23" name="Google Shape;923;g2e68271dbcd_1_2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8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8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8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8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8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8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8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8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8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8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8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8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8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8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8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9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9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9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9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9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2"/>
          <p:cNvSpPr/>
          <p:nvPr>
            <p:ph idx="2" type="pic"/>
          </p:nvPr>
        </p:nvSpPr>
        <p:spPr>
          <a:xfrm>
            <a:off x="3887391" y="987426"/>
            <a:ext cx="4629150" cy="4873625"/>
          </a:xfrm>
          <a:prstGeom prst="rect">
            <a:avLst/>
          </a:prstGeom>
          <a:noFill/>
          <a:ln>
            <a:noFill/>
          </a:ln>
        </p:spPr>
      </p:sp>
      <p:sp>
        <p:nvSpPr>
          <p:cNvPr id="62" name="Google Shape;62;p9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9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9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94"/>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4"/>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9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jp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jp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jp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jp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jp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jp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jp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jp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jp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jp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jp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jp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4" name="Google Shape;84;p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5" name="Google Shape;85;p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86" name="Google Shape;86;p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1" i="0" sz="1600" u="none" cap="none" strike="noStrike">
              <a:solidFill>
                <a:schemeClr val="lt1"/>
              </a:solidFill>
              <a:latin typeface="Arial"/>
              <a:ea typeface="Arial"/>
              <a:cs typeface="Arial"/>
              <a:sym typeface="Arial"/>
            </a:endParaRPr>
          </a:p>
        </p:txBody>
      </p:sp>
      <p:sp>
        <p:nvSpPr>
          <p:cNvPr id="87" name="Google Shape;87;p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450376" y="1460311"/>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1" name="Google Shape;91;p1"/>
          <p:cNvSpPr txBox="1"/>
          <p:nvPr/>
        </p:nvSpPr>
        <p:spPr>
          <a:xfrm>
            <a:off x="628650" y="1320476"/>
            <a:ext cx="7648500" cy="3971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Third Year Engineering</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CC00CC"/>
                </a:solidFill>
                <a:latin typeface="Times New Roman"/>
                <a:ea typeface="Times New Roman"/>
                <a:cs typeface="Times New Roman"/>
                <a:sym typeface="Times New Roman"/>
              </a:rPr>
              <a:t>18BTCS601-Design and Analysis of Algorithms</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br>
              <a:rPr b="0" i="0" lang="en-US" sz="2800" u="none" cap="none" strike="noStrike">
                <a:solidFill>
                  <a:srgbClr val="000000"/>
                </a:solidFill>
                <a:latin typeface="Arial"/>
                <a:ea typeface="Arial"/>
                <a:cs typeface="Arial"/>
                <a:sym typeface="Arial"/>
              </a:rPr>
            </a:br>
            <a:r>
              <a:rPr b="1" i="0" lang="en-US" sz="2800" u="none" cap="none" strike="noStrike">
                <a:solidFill>
                  <a:srgbClr val="FF0000"/>
                </a:solidFill>
                <a:latin typeface="Times New Roman"/>
                <a:ea typeface="Times New Roman"/>
                <a:cs typeface="Times New Roman"/>
                <a:sym typeface="Times New Roman"/>
              </a:rPr>
              <a:t>Class - T.Y. (SEM-I)</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Unit - I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Fundamentals of Algorithm </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1973325" y="5402056"/>
            <a:ext cx="4648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00CC"/>
                </a:solidFill>
                <a:latin typeface="Times New Roman"/>
                <a:ea typeface="Times New Roman"/>
                <a:cs typeface="Times New Roman"/>
                <a:sym typeface="Times New Roman"/>
              </a:rPr>
              <a:t>AY 2024-2025     </a:t>
            </a:r>
            <a:r>
              <a:rPr b="1" i="0" lang="en-US" sz="2800" u="none" cap="none" strike="noStrike">
                <a:solidFill>
                  <a:srgbClr val="CC00CC"/>
                </a:solidFill>
                <a:latin typeface="Times New Roman"/>
                <a:ea typeface="Times New Roman"/>
                <a:cs typeface="Times New Roman"/>
                <a:sym typeface="Times New Roman"/>
              </a:rPr>
              <a:t>SEM-I</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8" name="Google Shape;98;p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99" name="Google Shape;99;p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00" name="Google Shape;100;p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497728" y="1259402"/>
            <a:ext cx="8338800" cy="4792800"/>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marR="0" rtl="0" algn="l">
              <a:lnSpc>
                <a:spcPct val="80000"/>
              </a:lnSpc>
              <a:spcBef>
                <a:spcPts val="0"/>
              </a:spcBef>
              <a:spcAft>
                <a:spcPts val="0"/>
              </a:spcAft>
              <a:buClr>
                <a:srgbClr val="000000"/>
              </a:buClr>
              <a:buSzPct val="100000"/>
              <a:buFont typeface="Arial"/>
              <a:buNone/>
            </a:pPr>
            <a:r>
              <a:rPr b="1" i="0" lang="en-US" sz="3200" u="none" cap="none" strike="noStrike">
                <a:solidFill>
                  <a:srgbClr val="C00000"/>
                </a:solidFill>
                <a:latin typeface="Times New Roman"/>
                <a:ea typeface="Times New Roman"/>
                <a:cs typeface="Times New Roman"/>
                <a:sym typeface="Times New Roman"/>
              </a:rPr>
              <a:t>Unit-I			Syllabus</a:t>
            </a:r>
            <a:endParaRPr b="1" i="0" sz="3200" u="none" cap="none" strike="noStrike">
              <a:solidFill>
                <a:srgbClr val="C00000"/>
              </a:solidFill>
              <a:latin typeface="Times New Roman"/>
              <a:ea typeface="Times New Roman"/>
              <a:cs typeface="Times New Roman"/>
              <a:sym typeface="Times New Roman"/>
            </a:endParaRPr>
          </a:p>
          <a:p>
            <a:pPr indent="-228600" lvl="0" marL="228600" marR="0" rtl="0" algn="l">
              <a:lnSpc>
                <a:spcPct val="80000"/>
              </a:lnSpc>
              <a:spcBef>
                <a:spcPts val="0"/>
              </a:spcBef>
              <a:spcAft>
                <a:spcPts val="0"/>
              </a:spcAft>
              <a:buClr>
                <a:srgbClr val="000000"/>
              </a:buClr>
              <a:buSzPct val="100000"/>
              <a:buFont typeface="Arial"/>
              <a:buNone/>
            </a:pPr>
            <a:r>
              <a:rPr b="1" i="0" lang="en-US" sz="3200" u="none" cap="none" strike="noStrike">
                <a:solidFill>
                  <a:srgbClr val="C00000"/>
                </a:solidFill>
                <a:latin typeface="Times New Roman"/>
                <a:ea typeface="Times New Roman"/>
                <a:cs typeface="Times New Roman"/>
                <a:sym typeface="Times New Roman"/>
              </a:rPr>
              <a:t>			</a:t>
            </a:r>
            <a:endParaRPr b="1" i="0" sz="2800" u="none" cap="none" strike="noStrike">
              <a:solidFill>
                <a:srgbClr val="C00000"/>
              </a:solidFill>
              <a:latin typeface="Times New Roman"/>
              <a:ea typeface="Times New Roman"/>
              <a:cs typeface="Times New Roman"/>
              <a:sym typeface="Times New Roman"/>
            </a:endParaRPr>
          </a:p>
          <a:p>
            <a:pPr indent="-347286" lvl="0" marL="457200" marR="0" rtl="0" algn="just">
              <a:lnSpc>
                <a:spcPct val="150000"/>
              </a:lnSpc>
              <a:spcBef>
                <a:spcPts val="0"/>
              </a:spcBef>
              <a:spcAft>
                <a:spcPts val="0"/>
              </a:spcAft>
              <a:buClr>
                <a:srgbClr val="0070C0"/>
              </a:buClr>
              <a:buSzPct val="100000"/>
              <a:buFont typeface="Times New Roman"/>
              <a:buChar char="●"/>
            </a:pPr>
            <a:r>
              <a:rPr b="1" i="0" lang="en-US" sz="2988" u="none" cap="none" strike="noStrike">
                <a:solidFill>
                  <a:srgbClr val="0070C0"/>
                </a:solidFill>
                <a:latin typeface="Times New Roman"/>
                <a:ea typeface="Times New Roman"/>
                <a:cs typeface="Times New Roman"/>
                <a:sym typeface="Times New Roman"/>
              </a:rPr>
              <a:t>What is algorithm, Fundamentals of algorithmic problem solving</a:t>
            </a:r>
            <a:endParaRPr b="1" i="0" sz="2988" u="none" cap="none" strike="noStrike">
              <a:solidFill>
                <a:srgbClr val="0070C0"/>
              </a:solidFill>
              <a:latin typeface="Times New Roman"/>
              <a:ea typeface="Times New Roman"/>
              <a:cs typeface="Times New Roman"/>
              <a:sym typeface="Times New Roman"/>
            </a:endParaRPr>
          </a:p>
          <a:p>
            <a:pPr indent="-347286" lvl="0" marL="457200" marR="0" rtl="0" algn="just">
              <a:lnSpc>
                <a:spcPct val="150000"/>
              </a:lnSpc>
              <a:spcBef>
                <a:spcPts val="0"/>
              </a:spcBef>
              <a:spcAft>
                <a:spcPts val="0"/>
              </a:spcAft>
              <a:buClr>
                <a:srgbClr val="0070C0"/>
              </a:buClr>
              <a:buSzPct val="100000"/>
              <a:buFont typeface="Times New Roman"/>
              <a:buChar char="●"/>
            </a:pPr>
            <a:r>
              <a:rPr b="1" i="0" lang="en-US" sz="2988" u="none" cap="none" strike="noStrike">
                <a:solidFill>
                  <a:schemeClr val="dk1"/>
                </a:solidFill>
                <a:latin typeface="Times New Roman"/>
                <a:ea typeface="Times New Roman"/>
                <a:cs typeface="Times New Roman"/>
                <a:sym typeface="Times New Roman"/>
              </a:rPr>
              <a:t>The Analysis Framework:</a:t>
            </a:r>
            <a:r>
              <a:rPr b="1" i="0" lang="en-US" sz="2988" u="none" cap="none" strike="noStrike">
                <a:solidFill>
                  <a:srgbClr val="0070C0"/>
                </a:solidFill>
                <a:latin typeface="Times New Roman"/>
                <a:ea typeface="Times New Roman"/>
                <a:cs typeface="Times New Roman"/>
                <a:sym typeface="Times New Roman"/>
              </a:rPr>
              <a:t> Measuring an Input’s Size, Units for Measuring Running Time, Orders of Growth, Worst-Case, Best-Case, and Average-Case Efficiencies</a:t>
            </a:r>
            <a:endParaRPr b="1" i="0" sz="2988" u="none" cap="none" strike="noStrike">
              <a:solidFill>
                <a:srgbClr val="0070C0"/>
              </a:solidFill>
              <a:latin typeface="Times New Roman"/>
              <a:ea typeface="Times New Roman"/>
              <a:cs typeface="Times New Roman"/>
              <a:sym typeface="Times New Roman"/>
            </a:endParaRPr>
          </a:p>
          <a:p>
            <a:pPr indent="-347286" lvl="0" marL="457200" marR="0" rtl="0" algn="just">
              <a:lnSpc>
                <a:spcPct val="150000"/>
              </a:lnSpc>
              <a:spcBef>
                <a:spcPts val="0"/>
              </a:spcBef>
              <a:spcAft>
                <a:spcPts val="0"/>
              </a:spcAft>
              <a:buClr>
                <a:srgbClr val="0070C0"/>
              </a:buClr>
              <a:buSzPct val="100000"/>
              <a:buFont typeface="Times New Roman"/>
              <a:buChar char="●"/>
            </a:pPr>
            <a:r>
              <a:rPr b="1" i="0" lang="en-US" sz="2988" u="none" cap="none" strike="noStrike">
                <a:solidFill>
                  <a:schemeClr val="dk1"/>
                </a:solidFill>
                <a:latin typeface="Times New Roman"/>
                <a:ea typeface="Times New Roman"/>
                <a:cs typeface="Times New Roman"/>
                <a:sym typeface="Times New Roman"/>
              </a:rPr>
              <a:t>Asymptotic notations:</a:t>
            </a:r>
            <a:r>
              <a:rPr b="1" i="0" lang="en-US" sz="2988" u="none" cap="none" strike="noStrike">
                <a:solidFill>
                  <a:srgbClr val="0070C0"/>
                </a:solidFill>
                <a:latin typeface="Times New Roman"/>
                <a:ea typeface="Times New Roman"/>
                <a:cs typeface="Times New Roman"/>
                <a:sym typeface="Times New Roman"/>
              </a:rPr>
              <a:t> Asymptotic complexities calculations for given function</a:t>
            </a:r>
            <a:endParaRPr b="1" i="0" sz="2988" u="none" cap="none" strike="noStrike">
              <a:solidFill>
                <a:srgbClr val="0070C0"/>
              </a:solidFill>
              <a:latin typeface="Times New Roman"/>
              <a:ea typeface="Times New Roman"/>
              <a:cs typeface="Times New Roman"/>
              <a:sym typeface="Times New Roman"/>
            </a:endParaRPr>
          </a:p>
          <a:p>
            <a:pPr indent="-347286" lvl="0" marL="457200" marR="0" rtl="0" algn="just">
              <a:lnSpc>
                <a:spcPct val="150000"/>
              </a:lnSpc>
              <a:spcBef>
                <a:spcPts val="0"/>
              </a:spcBef>
              <a:spcAft>
                <a:spcPts val="0"/>
              </a:spcAft>
              <a:buClr>
                <a:srgbClr val="0070C0"/>
              </a:buClr>
              <a:buSzPct val="100000"/>
              <a:buFont typeface="Times New Roman"/>
              <a:buChar char="●"/>
            </a:pPr>
            <a:r>
              <a:rPr b="1" i="0" lang="en-US" sz="2988" u="none" cap="none" strike="noStrike">
                <a:solidFill>
                  <a:schemeClr val="dk1"/>
                </a:solidFill>
                <a:latin typeface="Times New Roman"/>
                <a:ea typeface="Times New Roman"/>
                <a:cs typeface="Times New Roman"/>
                <a:sym typeface="Times New Roman"/>
              </a:rPr>
              <a:t>Mathematical Analysis of Non recursive Algorithms:</a:t>
            </a:r>
            <a:r>
              <a:rPr b="1" i="0" lang="en-US" sz="2988" u="none" cap="none" strike="noStrike">
                <a:solidFill>
                  <a:srgbClr val="0070C0"/>
                </a:solidFill>
                <a:latin typeface="Times New Roman"/>
                <a:ea typeface="Times New Roman"/>
                <a:cs typeface="Times New Roman"/>
                <a:sym typeface="Times New Roman"/>
              </a:rPr>
              <a:t> Finding the value of largest element in the list, element uniqueness problem</a:t>
            </a:r>
            <a:endParaRPr b="1" i="0" sz="2988" u="none" cap="none" strike="noStrike">
              <a:solidFill>
                <a:srgbClr val="0070C0"/>
              </a:solidFill>
              <a:latin typeface="Times New Roman"/>
              <a:ea typeface="Times New Roman"/>
              <a:cs typeface="Times New Roman"/>
              <a:sym typeface="Times New Roman"/>
            </a:endParaRPr>
          </a:p>
          <a:p>
            <a:pPr indent="-347286" lvl="0" marL="457200" marR="0" rtl="0" algn="just">
              <a:lnSpc>
                <a:spcPct val="150000"/>
              </a:lnSpc>
              <a:spcBef>
                <a:spcPts val="0"/>
              </a:spcBef>
              <a:spcAft>
                <a:spcPts val="0"/>
              </a:spcAft>
              <a:buClr>
                <a:srgbClr val="0070C0"/>
              </a:buClr>
              <a:buSzPct val="100000"/>
              <a:buFont typeface="Times New Roman"/>
              <a:buChar char="●"/>
            </a:pPr>
            <a:r>
              <a:rPr b="1" i="0" lang="en-US" sz="2988" u="none" cap="none" strike="noStrike">
                <a:solidFill>
                  <a:schemeClr val="dk1"/>
                </a:solidFill>
                <a:latin typeface="Times New Roman"/>
                <a:ea typeface="Times New Roman"/>
                <a:cs typeface="Times New Roman"/>
                <a:sym typeface="Times New Roman"/>
              </a:rPr>
              <a:t>Mathematical Analysis of Recursive Algorithms: </a:t>
            </a:r>
            <a:r>
              <a:rPr b="1" i="0" lang="en-US" sz="2988" u="none" cap="none" strike="noStrike">
                <a:solidFill>
                  <a:srgbClr val="0070C0"/>
                </a:solidFill>
                <a:latin typeface="Times New Roman"/>
                <a:ea typeface="Times New Roman"/>
                <a:cs typeface="Times New Roman"/>
                <a:sym typeface="Times New Roman"/>
              </a:rPr>
              <a:t>Factorial function</a:t>
            </a:r>
            <a:endParaRPr b="1" i="0" sz="2988" u="none" cap="none" strike="noStrike">
              <a:solidFill>
                <a:srgbClr val="0070C0"/>
              </a:solidFill>
              <a:latin typeface="Times New Roman"/>
              <a:ea typeface="Times New Roman"/>
              <a:cs typeface="Times New Roman"/>
              <a:sym typeface="Times New Roman"/>
            </a:endParaRPr>
          </a:p>
          <a:p>
            <a:pPr indent="-347286" lvl="0" marL="457200" marR="0" rtl="0" algn="just">
              <a:lnSpc>
                <a:spcPct val="150000"/>
              </a:lnSpc>
              <a:spcBef>
                <a:spcPts val="0"/>
              </a:spcBef>
              <a:spcAft>
                <a:spcPts val="0"/>
              </a:spcAft>
              <a:buClr>
                <a:srgbClr val="0070C0"/>
              </a:buClr>
              <a:buSzPct val="100000"/>
              <a:buFont typeface="Times New Roman"/>
              <a:buChar char="●"/>
            </a:pPr>
            <a:r>
              <a:rPr b="1" i="0" lang="en-US" sz="2988" u="none" cap="none" strike="noStrike">
                <a:solidFill>
                  <a:schemeClr val="dk1"/>
                </a:solidFill>
                <a:latin typeface="Times New Roman"/>
                <a:ea typeface="Times New Roman"/>
                <a:cs typeface="Times New Roman"/>
                <a:sym typeface="Times New Roman"/>
              </a:rPr>
              <a:t>Master Theorem:</a:t>
            </a:r>
            <a:r>
              <a:rPr b="1" i="0" lang="en-US" sz="2988" u="none" cap="none" strike="noStrike">
                <a:solidFill>
                  <a:srgbClr val="0070C0"/>
                </a:solidFill>
                <a:latin typeface="Times New Roman"/>
                <a:ea typeface="Times New Roman"/>
                <a:cs typeface="Times New Roman"/>
                <a:sym typeface="Times New Roman"/>
              </a:rPr>
              <a:t> Solving recurrence relations using master theorem</a:t>
            </a:r>
            <a:endParaRPr b="1" i="0" sz="2988" u="none" cap="none" strike="noStrike">
              <a:solidFill>
                <a:srgbClr val="0070C0"/>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Clr>
                <a:srgbClr val="000000"/>
              </a:buClr>
              <a:buSzPct val="100000"/>
              <a:buFont typeface="Arial"/>
              <a:buNone/>
            </a:pPr>
            <a:r>
              <a:rPr b="1" i="0" lang="en-US" sz="2300" u="none" cap="none" strike="noStrike">
                <a:solidFill>
                  <a:srgbClr val="0070C0"/>
                </a:solidFill>
                <a:latin typeface="Times New Roman"/>
                <a:ea typeface="Times New Roman"/>
                <a:cs typeface="Times New Roman"/>
                <a:sym typeface="Times New Roman"/>
              </a:rPr>
              <a:t> </a:t>
            </a:r>
            <a:endParaRPr b="1" i="0" sz="2300" u="none" cap="none" strike="noStrike">
              <a:solidFill>
                <a:srgbClr val="0070C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ct val="100000"/>
              <a:buFont typeface="Arial"/>
              <a:buNone/>
            </a:pPr>
            <a:r>
              <a:t/>
            </a:r>
            <a:endParaRPr b="1" i="0" sz="2300" u="none" cap="none" strike="noStrike">
              <a:solidFill>
                <a:srgbClr val="0070C0"/>
              </a:solidFill>
              <a:latin typeface="Times New Roman"/>
              <a:ea typeface="Times New Roman"/>
              <a:cs typeface="Times New Roman"/>
              <a:sym typeface="Times New Roman"/>
            </a:endParaRPr>
          </a:p>
        </p:txBody>
      </p:sp>
      <p:sp>
        <p:nvSpPr>
          <p:cNvPr id="105" name="Google Shape;105;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1" name="Google Shape;111;p2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12" name="Google Shape;112;p2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13" name="Google Shape;113;p2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14" name="Google Shape;114;p2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2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2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17" name="Google Shape;117;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8" name="Google Shape;118;p20"/>
          <p:cNvSpPr txBox="1"/>
          <p:nvPr/>
        </p:nvSpPr>
        <p:spPr>
          <a:xfrm>
            <a:off x="354842" y="1105287"/>
            <a:ext cx="8338800" cy="5030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algorithm</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A finite set of instruction that specify a sequence of operations to be carried out in order to solve a specific problem or class of problems is called an algorithm. </a:t>
            </a:r>
            <a:r>
              <a:rPr b="1" lang="en-US" sz="2800">
                <a:solidFill>
                  <a:schemeClr val="dk1"/>
                </a:solidFill>
                <a:latin typeface="Times New Roman"/>
                <a:ea typeface="Times New Roman"/>
                <a:cs typeface="Times New Roman"/>
                <a:sym typeface="Times New Roman"/>
              </a:rPr>
              <a:t> </a:t>
            </a:r>
            <a:endParaRPr b="1" sz="28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lang="en-US" sz="2800">
                <a:solidFill>
                  <a:schemeClr val="dk1"/>
                </a:solidFill>
                <a:latin typeface="Times New Roman"/>
                <a:ea typeface="Times New Roman"/>
                <a:cs typeface="Times New Roman"/>
                <a:sym typeface="Times New Roman"/>
              </a:rPr>
              <a:t>                   </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C00000"/>
                </a:solidFill>
                <a:latin typeface="Times New Roman"/>
                <a:ea typeface="Times New Roman"/>
                <a:cs typeface="Times New Roman"/>
                <a:sym typeface="Times New Roman"/>
              </a:rPr>
              <a:t> or</a:t>
            </a:r>
            <a:endParaRPr b="1" i="0" sz="2800" u="none" cap="none" strike="noStrike">
              <a:solidFill>
                <a:srgbClr val="C0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Algorithm is defined as a step by step procedure to perform a specific task within finite number of steps</a:t>
            </a:r>
            <a:endParaRPr b="0" i="0" sz="28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55f9865c41_0_10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24" name="Google Shape;124;g255f9865c41_0_10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25" name="Google Shape;125;g255f9865c41_0_10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26" name="Google Shape;126;g255f9865c41_0_10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27" name="Google Shape;127;g255f9865c41_0_10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g255f9865c41_0_10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g255f9865c41_0_10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30" name="Google Shape;130;g255f9865c41_0_10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1" name="Google Shape;131;g255f9865c41_0_107"/>
          <p:cNvSpPr txBox="1"/>
          <p:nvPr/>
        </p:nvSpPr>
        <p:spPr>
          <a:xfrm>
            <a:off x="354842" y="1105287"/>
            <a:ext cx="8338800" cy="1305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algorithm</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132" name="Google Shape;132;g255f9865c41_0_107"/>
          <p:cNvPicPr preferRelativeResize="0"/>
          <p:nvPr/>
        </p:nvPicPr>
        <p:blipFill rotWithShape="1">
          <a:blip r:embed="rId5">
            <a:alphaModFix/>
          </a:blip>
          <a:srcRect b="8768" l="13011" r="17851" t="20858"/>
          <a:stretch/>
        </p:blipFill>
        <p:spPr>
          <a:xfrm>
            <a:off x="1190250" y="2061225"/>
            <a:ext cx="6321626" cy="40572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55f9865c41_0_12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8" name="Google Shape;138;g255f9865c41_0_12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39" name="Google Shape;139;g255f9865c41_0_12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40" name="Google Shape;140;g255f9865c41_0_12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41" name="Google Shape;141;g255f9865c41_0_12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g255f9865c41_0_12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g255f9865c41_0_12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44" name="Google Shape;144;g255f9865c41_0_12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5" name="Google Shape;145;g255f9865c41_0_120"/>
          <p:cNvSpPr txBox="1"/>
          <p:nvPr/>
        </p:nvSpPr>
        <p:spPr>
          <a:xfrm>
            <a:off x="354850" y="1105275"/>
            <a:ext cx="8338800" cy="5541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chemeClr val="dk1"/>
              </a:buClr>
              <a:buSzPts val="1100"/>
              <a:buFont typeface="Arial"/>
              <a:buNone/>
            </a:pPr>
            <a:r>
              <a:rPr b="1" i="0" lang="en-US" sz="2800" u="none" cap="none" strike="noStrike">
                <a:solidFill>
                  <a:srgbClr val="C00000"/>
                </a:solidFill>
                <a:latin typeface="Times New Roman"/>
                <a:ea typeface="Times New Roman"/>
                <a:cs typeface="Times New Roman"/>
                <a:sym typeface="Times New Roman"/>
              </a:rPr>
              <a:t>PSEUDOCODE</a:t>
            </a:r>
            <a:endParaRPr b="0" i="0" sz="1400" u="none" cap="none" strike="noStrike">
              <a:solidFill>
                <a:srgbClr val="C00000"/>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Pseudocode (pronounced SOO-doh-kohd) is a detailed yet readable description of what a computer program or algorithm must do, expressed in a formally-styled natural language rather than in a programming language.  </a:t>
            </a:r>
            <a:endParaRPr b="1"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2800"/>
              <a:buFont typeface="Arial"/>
              <a:buNone/>
            </a:pPr>
            <a:r>
              <a:t/>
            </a:r>
            <a:endParaRPr b="1"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It is sometimes used as a detailed step in the process of developing a program.  It allows programmers to express the design in great detail and provides programmers a detailed template for the next step of writing code in a specific programming language.</a:t>
            </a:r>
            <a:endParaRPr b="0" i="0" sz="28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55f9865c41_0_13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1" name="Google Shape;151;g255f9865c41_0_13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52" name="Google Shape;152;g255f9865c41_0_13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53" name="Google Shape;153;g255f9865c41_0_13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54" name="Google Shape;154;g255f9865c41_0_13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g255f9865c41_0_13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g255f9865c41_0_13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57" name="Google Shape;157;g255f9865c41_0_1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8" name="Google Shape;158;g255f9865c41_0_133"/>
          <p:cNvSpPr txBox="1"/>
          <p:nvPr/>
        </p:nvSpPr>
        <p:spPr>
          <a:xfrm>
            <a:off x="354850" y="1105275"/>
            <a:ext cx="8338800" cy="3958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800"/>
              <a:buFont typeface="Arial"/>
              <a:buNone/>
            </a:pPr>
            <a:r>
              <a:rPr b="0" i="0" lang="en-US" sz="2800" u="none" cap="none" strike="noStrike">
                <a:solidFill>
                  <a:srgbClr val="C00000"/>
                </a:solidFill>
                <a:latin typeface="Arial"/>
                <a:ea typeface="Arial"/>
                <a:cs typeface="Arial"/>
                <a:sym typeface="Arial"/>
              </a:rPr>
              <a:t>PSEUDOCODE to </a:t>
            </a:r>
            <a:r>
              <a:rPr b="0" i="0" lang="en-US" sz="2800" u="none" cap="none" strike="noStrike">
                <a:solidFill>
                  <a:srgbClr val="C00000"/>
                </a:solidFill>
                <a:highlight>
                  <a:srgbClr val="FFFFFF"/>
                </a:highlight>
                <a:latin typeface="Arial"/>
                <a:ea typeface="Arial"/>
                <a:cs typeface="Arial"/>
                <a:sym typeface="Arial"/>
              </a:rPr>
              <a:t>find the sum of numbers </a:t>
            </a:r>
            <a:endParaRPr b="0" i="0" sz="2800" u="none" cap="none" strike="noStrike">
              <a:solidFill>
                <a:srgbClr val="C00000"/>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int N, sum = 0, i = 1.</a:t>
            </a:r>
            <a:endParaRPr b="0" i="0" sz="2400" u="none" cap="none" strike="noStrike">
              <a:solidFill>
                <a:srgbClr val="202124"/>
              </a:solidFill>
              <a:highlight>
                <a:srgbClr val="FFFFFF"/>
              </a:highlight>
              <a:latin typeface="Arial"/>
              <a:ea typeface="Arial"/>
              <a:cs typeface="Arial"/>
              <a:sym typeface="Arial"/>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Input N from user.</a:t>
            </a:r>
            <a:endParaRPr b="0" i="0" sz="2400" u="none" cap="none" strike="noStrike">
              <a:solidFill>
                <a:srgbClr val="202124"/>
              </a:solidFill>
              <a:highlight>
                <a:srgbClr val="FFFFFF"/>
              </a:highlight>
              <a:latin typeface="Arial"/>
              <a:ea typeface="Arial"/>
              <a:cs typeface="Arial"/>
              <a:sym typeface="Arial"/>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do.</a:t>
            </a:r>
            <a:endParaRPr b="0" i="0" sz="2400" u="none" cap="none" strike="noStrike">
              <a:solidFill>
                <a:srgbClr val="202124"/>
              </a:solidFill>
              <a:highlight>
                <a:srgbClr val="FFFFFF"/>
              </a:highlight>
              <a:latin typeface="Arial"/>
              <a:ea typeface="Arial"/>
              <a:cs typeface="Arial"/>
              <a:sym typeface="Arial"/>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sum = sum + i.</a:t>
            </a:r>
            <a:endParaRPr b="0" i="0" sz="2400" u="none" cap="none" strike="noStrike">
              <a:solidFill>
                <a:srgbClr val="202124"/>
              </a:solidFill>
              <a:highlight>
                <a:srgbClr val="FFFFFF"/>
              </a:highlight>
              <a:latin typeface="Arial"/>
              <a:ea typeface="Arial"/>
              <a:cs typeface="Arial"/>
              <a:sym typeface="Arial"/>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i = i + 1.</a:t>
            </a:r>
            <a:endParaRPr b="0" i="0" sz="2400" u="none" cap="none" strike="noStrike">
              <a:solidFill>
                <a:srgbClr val="202124"/>
              </a:solidFill>
              <a:highlight>
                <a:srgbClr val="FFFFFF"/>
              </a:highlight>
              <a:latin typeface="Arial"/>
              <a:ea typeface="Arial"/>
              <a:cs typeface="Arial"/>
              <a:sym typeface="Arial"/>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Repeat step 3 to 5 till i &lt; = N i &lt;= N i&lt;=N.</a:t>
            </a:r>
            <a:endParaRPr b="0" i="0" sz="2400" u="none" cap="none" strike="noStrike">
              <a:solidFill>
                <a:srgbClr val="202124"/>
              </a:solidFill>
              <a:highlight>
                <a:srgbClr val="FFFFFF"/>
              </a:highlight>
              <a:latin typeface="Arial"/>
              <a:ea typeface="Arial"/>
              <a:cs typeface="Arial"/>
              <a:sym typeface="Arial"/>
            </a:endParaRPr>
          </a:p>
          <a:p>
            <a:pPr indent="-381000" lvl="0" marL="457200" marR="0" rtl="0" algn="l">
              <a:lnSpc>
                <a:spcPct val="115000"/>
              </a:lnSpc>
              <a:spcBef>
                <a:spcPts val="0"/>
              </a:spcBef>
              <a:spcAft>
                <a:spcPts val="0"/>
              </a:spcAft>
              <a:buClr>
                <a:srgbClr val="202124"/>
              </a:buClr>
              <a:buSzPts val="2400"/>
              <a:buFont typeface="Arial"/>
              <a:buChar char="●"/>
            </a:pPr>
            <a:r>
              <a:rPr b="0" i="0" lang="en-US" sz="2400" u="none" cap="none" strike="noStrike">
                <a:solidFill>
                  <a:srgbClr val="202124"/>
                </a:solidFill>
                <a:highlight>
                  <a:srgbClr val="FFFFFF"/>
                </a:highlight>
                <a:latin typeface="Arial"/>
                <a:ea typeface="Arial"/>
                <a:cs typeface="Arial"/>
                <a:sym typeface="Arial"/>
              </a:rPr>
              <a:t>Display the value of sum.</a:t>
            </a:r>
            <a:endParaRPr b="0" i="0" sz="2400" u="none" cap="none" strike="noStrike">
              <a:solidFill>
                <a:srgbClr val="202124"/>
              </a:solidFill>
              <a:highlight>
                <a:srgbClr val="FFFFFF"/>
              </a:highlight>
              <a:latin typeface="Arial"/>
              <a:ea typeface="Arial"/>
              <a:cs typeface="Arial"/>
              <a:sym typeface="Arial"/>
            </a:endParaRPr>
          </a:p>
          <a:p>
            <a:pPr indent="0" lvl="0" marL="0" marR="0" rtl="0" algn="just">
              <a:lnSpc>
                <a:spcPct val="100000"/>
              </a:lnSpc>
              <a:spcBef>
                <a:spcPts val="72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55f9865c41_0_1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4" name="Google Shape;164;g255f9865c41_0_1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65" name="Google Shape;165;g255f9865c41_0_1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66" name="Google Shape;166;g255f9865c41_0_1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67" name="Google Shape;167;g255f9865c41_0_1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g255f9865c41_0_1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g255f9865c41_0_1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70" name="Google Shape;170;g255f9865c41_0_1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1" name="Google Shape;171;g255f9865c41_0_12"/>
          <p:cNvSpPr txBox="1"/>
          <p:nvPr/>
        </p:nvSpPr>
        <p:spPr>
          <a:xfrm>
            <a:off x="354842" y="1105287"/>
            <a:ext cx="8338800" cy="5169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Fundamentals of algorithmic problem solving</a:t>
            </a:r>
            <a:endParaRPr b="0" i="0" sz="1400" u="none" cap="none" strike="noStrike">
              <a:solidFill>
                <a:srgbClr val="FF0000"/>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Every algorithm should have the following 5 characteristic features: </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a) Input</a:t>
            </a:r>
            <a:endParaRPr b="1" i="0" sz="33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b) Output </a:t>
            </a:r>
            <a:endParaRPr b="1" i="0" sz="33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 Finiteness </a:t>
            </a:r>
            <a:endParaRPr b="1" i="0" sz="33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d) Definiteness </a:t>
            </a:r>
            <a:endParaRPr b="1" i="0" sz="33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e) Effectiveness </a:t>
            </a:r>
            <a:endParaRPr b="1" i="0" sz="33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55f9865c41_0_2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7" name="Google Shape;177;g255f9865c41_0_2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78" name="Google Shape;178;g255f9865c41_0_2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79" name="Google Shape;179;g255f9865c41_0_2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80" name="Google Shape;180;g255f9865c41_0_2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g255f9865c41_0_2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g255f9865c41_0_2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83" name="Google Shape;183;g255f9865c41_0_2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4" name="Google Shape;184;g255f9865c41_0_26"/>
          <p:cNvSpPr txBox="1"/>
          <p:nvPr/>
        </p:nvSpPr>
        <p:spPr>
          <a:xfrm>
            <a:off x="354842" y="1105287"/>
            <a:ext cx="8338800" cy="5122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100"/>
              <a:buFont typeface="Arial"/>
              <a:buNone/>
            </a:pPr>
            <a:r>
              <a:rPr b="1" i="0" lang="en-US" sz="2988" u="none" cap="none" strike="noStrike">
                <a:solidFill>
                  <a:srgbClr val="FF0000"/>
                </a:solidFill>
                <a:latin typeface="Times New Roman"/>
                <a:ea typeface="Times New Roman"/>
                <a:cs typeface="Times New Roman"/>
                <a:sym typeface="Times New Roman"/>
              </a:rPr>
              <a:t>Fundamentals of algorithmic problem solving</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400"/>
              <a:buFont typeface="Arial"/>
              <a:buNone/>
            </a:pPr>
            <a:r>
              <a:rPr b="1" i="0" lang="en-US" sz="2400" u="none" cap="none" strike="noStrike">
                <a:solidFill>
                  <a:srgbClr val="C00000"/>
                </a:solidFill>
                <a:latin typeface="Times New Roman"/>
                <a:ea typeface="Times New Roman"/>
                <a:cs typeface="Times New Roman"/>
                <a:sym typeface="Times New Roman"/>
              </a:rPr>
              <a:t>a) Input: </a:t>
            </a:r>
            <a:r>
              <a:rPr b="1" i="0" lang="en-US" sz="2400" u="none" cap="none" strike="noStrike">
                <a:solidFill>
                  <a:schemeClr val="dk1"/>
                </a:solidFill>
                <a:latin typeface="Times New Roman"/>
                <a:ea typeface="Times New Roman"/>
                <a:cs typeface="Times New Roman"/>
                <a:sym typeface="Times New Roman"/>
              </a:rPr>
              <a:t>An algorithm may have one or more inputs. The inputs are taken from a specified set of subjects. The input pattern may be texts, images or any type of files. </a:t>
            </a:r>
            <a:endParaRPr b="1" i="0" sz="24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rPr b="1" i="0" lang="en-US" sz="2400" u="none" cap="none" strike="noStrike">
                <a:solidFill>
                  <a:srgbClr val="C00000"/>
                </a:solidFill>
                <a:latin typeface="Times New Roman"/>
                <a:ea typeface="Times New Roman"/>
                <a:cs typeface="Times New Roman"/>
                <a:sym typeface="Times New Roman"/>
              </a:rPr>
              <a:t>b) Output:</a:t>
            </a:r>
            <a:r>
              <a:rPr b="1" i="0" lang="en-US" sz="2400" u="none" cap="none" strike="noStrike">
                <a:solidFill>
                  <a:schemeClr val="dk1"/>
                </a:solidFill>
                <a:latin typeface="Times New Roman"/>
                <a:ea typeface="Times New Roman"/>
                <a:cs typeface="Times New Roman"/>
                <a:sym typeface="Times New Roman"/>
              </a:rPr>
              <a:t> An algorithm may have one or more outputs. Output is basically a quantity which has a specified relation with the input. </a:t>
            </a:r>
            <a:endParaRPr b="1" i="0" sz="24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rPr b="1" i="0" lang="en-US" sz="2400" u="none" cap="none" strike="noStrike">
                <a:solidFill>
                  <a:srgbClr val="C00000"/>
                </a:solidFill>
                <a:latin typeface="Times New Roman"/>
                <a:ea typeface="Times New Roman"/>
                <a:cs typeface="Times New Roman"/>
                <a:sym typeface="Times New Roman"/>
              </a:rPr>
              <a:t>c) Finiteness:</a:t>
            </a:r>
            <a:r>
              <a:rPr b="1" i="0" lang="en-US" sz="2400" u="none" cap="none" strike="noStrike">
                <a:solidFill>
                  <a:schemeClr val="dk1"/>
                </a:solidFill>
                <a:latin typeface="Times New Roman"/>
                <a:ea typeface="Times New Roman"/>
                <a:cs typeface="Times New Roman"/>
                <a:sym typeface="Times New Roman"/>
              </a:rPr>
              <a:t> An algorithm should terminate after a countable number of steps. In some cases the repetition of steps may be larger in number. If a procedure is able to resolve in finite number of execution of steps, then it is referred to be computational method. </a:t>
            </a:r>
            <a:endParaRPr b="0" i="0" sz="18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55f9865c41_0_3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0" name="Google Shape;190;g255f9865c41_0_3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91" name="Google Shape;191;g255f9865c41_0_3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92" name="Google Shape;192;g255f9865c41_0_3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93" name="Google Shape;193;g255f9865c41_0_3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g255f9865c41_0_3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g255f9865c41_0_3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96" name="Google Shape;196;g255f9865c41_0_3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7" name="Google Shape;197;g255f9865c41_0_39"/>
          <p:cNvSpPr txBox="1"/>
          <p:nvPr/>
        </p:nvSpPr>
        <p:spPr>
          <a:xfrm>
            <a:off x="354842" y="1105287"/>
            <a:ext cx="8338800" cy="5707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100"/>
              <a:buFont typeface="Arial"/>
              <a:buNone/>
            </a:pPr>
            <a:r>
              <a:rPr b="1" i="0" lang="en-US" sz="2988" u="none" cap="none" strike="noStrike">
                <a:solidFill>
                  <a:srgbClr val="FF0000"/>
                </a:solidFill>
                <a:latin typeface="Times New Roman"/>
                <a:ea typeface="Times New Roman"/>
                <a:cs typeface="Times New Roman"/>
                <a:sym typeface="Times New Roman"/>
              </a:rPr>
              <a:t>Fundamentals of algorithmic problem solving</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d) Definiteness: </a:t>
            </a:r>
            <a:r>
              <a:rPr b="1" i="0" lang="en-US" sz="2800" u="none" cap="none" strike="noStrike">
                <a:solidFill>
                  <a:schemeClr val="dk1"/>
                </a:solidFill>
                <a:latin typeface="Times New Roman"/>
                <a:ea typeface="Times New Roman"/>
                <a:cs typeface="Times New Roman"/>
                <a:sym typeface="Times New Roman"/>
              </a:rPr>
              <a:t>Each step of an algorithm must be precisely defined. Due to the lack of understandability one may think that the step might be lacking definiteness. Therefore in such cases mathematically expressions are written, so that it resembles the instruction of any computer language. </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e) Effectiveness:</a:t>
            </a:r>
            <a:r>
              <a:rPr b="1" i="0" lang="en-US" sz="2800" u="none" cap="none" strike="noStrike">
                <a:solidFill>
                  <a:schemeClr val="dk1"/>
                </a:solidFill>
                <a:latin typeface="Times New Roman"/>
                <a:ea typeface="Times New Roman"/>
                <a:cs typeface="Times New Roman"/>
                <a:sym typeface="Times New Roman"/>
              </a:rPr>
              <a:t> An algorithm is generally expected to effective. Means the steps should be sufficiently basic, so that it may be possible for a man to resolve them. </a:t>
            </a:r>
            <a:endParaRPr b="1" i="0" sz="2400" u="none" cap="none" strike="noStrike">
              <a:solidFill>
                <a:srgbClr val="C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55f9865c41_0_5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3" name="Google Shape;203;g255f9865c41_0_5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04" name="Google Shape;204;g255f9865c41_0_5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05" name="Google Shape;205;g255f9865c41_0_5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06" name="Google Shape;206;g255f9865c41_0_5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g255f9865c41_0_5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255f9865c41_0_5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09" name="Google Shape;209;g255f9865c41_0_5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0" name="Google Shape;210;g255f9865c41_0_51"/>
          <p:cNvSpPr txBox="1"/>
          <p:nvPr/>
        </p:nvSpPr>
        <p:spPr>
          <a:xfrm>
            <a:off x="354842" y="1105287"/>
            <a:ext cx="8338800" cy="5122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Expectation from an algorithm</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Correctness:</a:t>
            </a:r>
            <a:r>
              <a:rPr b="1" i="0" lang="en-US" sz="2800" u="none" cap="none" strike="noStrike">
                <a:solidFill>
                  <a:schemeClr val="dk1"/>
                </a:solidFill>
                <a:latin typeface="Times New Roman"/>
                <a:ea typeface="Times New Roman"/>
                <a:cs typeface="Times New Roman"/>
                <a:sym typeface="Times New Roman"/>
              </a:rPr>
              <a:t> Produced by the algorithm should correct.</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Approximation </a:t>
            </a:r>
            <a:r>
              <a:rPr b="1" i="0" lang="en-US" sz="2800" u="none" cap="none" strike="noStrike">
                <a:solidFill>
                  <a:schemeClr val="dk1"/>
                </a:solidFill>
                <a:latin typeface="Times New Roman"/>
                <a:ea typeface="Times New Roman"/>
                <a:cs typeface="Times New Roman"/>
                <a:sym typeface="Times New Roman"/>
              </a:rPr>
              <a:t>:Exact solution is not found, but near optimal solution can be found out</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Generality:</a:t>
            </a:r>
            <a:r>
              <a:rPr b="1" i="0" lang="en-US" sz="2800" u="none" cap="none" strike="noStrike">
                <a:solidFill>
                  <a:schemeClr val="dk1"/>
                </a:solidFill>
                <a:latin typeface="Times New Roman"/>
                <a:ea typeface="Times New Roman"/>
                <a:cs typeface="Times New Roman"/>
                <a:sym typeface="Times New Roman"/>
              </a:rPr>
              <a:t> Algorithm applies to set of standard inputs.</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Less resource usage:</a:t>
            </a:r>
            <a:r>
              <a:rPr b="1" i="0" lang="en-US" sz="2800" u="none" cap="none" strike="noStrike">
                <a:solidFill>
                  <a:schemeClr val="dk1"/>
                </a:solidFill>
                <a:latin typeface="Times New Roman"/>
                <a:ea typeface="Times New Roman"/>
                <a:cs typeface="Times New Roman"/>
                <a:sym typeface="Times New Roman"/>
              </a:rPr>
              <a:t> Algorithms should use less resources (time and space).</a:t>
            </a:r>
            <a:endParaRPr b="1" i="0" sz="28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 </a:t>
            </a:r>
            <a:endParaRPr b="1" i="0" sz="2400" u="none" cap="none" strike="noStrike">
              <a:solidFill>
                <a:srgbClr val="C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55f9865c41_0_6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16" name="Google Shape;216;g255f9865c41_0_6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17" name="Google Shape;217;g255f9865c41_0_6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18" name="Google Shape;218;g255f9865c41_0_6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19" name="Google Shape;219;g255f9865c41_0_6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g255f9865c41_0_6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g255f9865c41_0_6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22" name="Google Shape;222;g255f9865c41_0_6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3" name="Google Shape;223;g255f9865c41_0_63"/>
          <p:cNvSpPr txBox="1"/>
          <p:nvPr/>
        </p:nvSpPr>
        <p:spPr>
          <a:xfrm>
            <a:off x="354850" y="1105275"/>
            <a:ext cx="8434200" cy="45087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Computer algorithm? </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chemeClr val="dk1"/>
                </a:solidFill>
                <a:latin typeface="Times New Roman"/>
                <a:ea typeface="Times New Roman"/>
                <a:cs typeface="Times New Roman"/>
                <a:sym typeface="Times New Roman"/>
              </a:rPr>
              <a:t>‘’A set of steps to accomplish or complete a task that is described precisely enough that a computer can run it’’. </a:t>
            </a:r>
            <a:endParaRPr b="1" i="0" sz="2988"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i="0" lang="en-US" sz="2988" u="sng" cap="none" strike="noStrike">
                <a:solidFill>
                  <a:schemeClr val="dk1"/>
                </a:solidFill>
                <a:latin typeface="Times New Roman"/>
                <a:ea typeface="Times New Roman"/>
                <a:cs typeface="Times New Roman"/>
                <a:sym typeface="Times New Roman"/>
              </a:rPr>
              <a:t>Described precisely:</a:t>
            </a:r>
            <a:r>
              <a:rPr b="1" i="0" lang="en-US" sz="2988" u="none" cap="none" strike="noStrike">
                <a:solidFill>
                  <a:schemeClr val="dk1"/>
                </a:solidFill>
                <a:latin typeface="Times New Roman"/>
                <a:ea typeface="Times New Roman"/>
                <a:cs typeface="Times New Roman"/>
                <a:sym typeface="Times New Roman"/>
              </a:rPr>
              <a:t> very difficult for a machine to know how much water, milk to be added etc. </a:t>
            </a:r>
            <a:endParaRPr b="1" i="0" sz="2988"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chemeClr val="dk1"/>
                </a:solidFill>
                <a:latin typeface="Times New Roman"/>
                <a:ea typeface="Times New Roman"/>
                <a:cs typeface="Times New Roman"/>
                <a:sym typeface="Times New Roman"/>
              </a:rPr>
              <a:t>Example: Tea making algorithm.(very difficult for a machine to know how much water, milk to be added etc.)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55f9865c41_0_7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29" name="Google Shape;229;g255f9865c41_0_7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30" name="Google Shape;230;g255f9865c41_0_7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31" name="Google Shape;231;g255f9865c41_0_7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32" name="Google Shape;232;g255f9865c41_0_7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g255f9865c41_0_7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g255f9865c41_0_7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35" name="Google Shape;235;g255f9865c41_0_7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6" name="Google Shape;236;g255f9865c41_0_77"/>
          <p:cNvSpPr txBox="1"/>
          <p:nvPr/>
        </p:nvSpPr>
        <p:spPr>
          <a:xfrm>
            <a:off x="354842" y="1105287"/>
            <a:ext cx="8338800" cy="41415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Computer algorithm? </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chemeClr val="dk1"/>
                </a:solidFill>
                <a:latin typeface="Times New Roman"/>
                <a:ea typeface="Times New Roman"/>
                <a:cs typeface="Times New Roman"/>
                <a:sym typeface="Times New Roman"/>
              </a:rPr>
              <a:t>These algorithms run on computers or computational devices.</a:t>
            </a:r>
            <a:endParaRPr b="1" i="0" sz="2988"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chemeClr val="dk1"/>
                </a:solidFill>
                <a:latin typeface="Times New Roman"/>
                <a:ea typeface="Times New Roman"/>
                <a:cs typeface="Times New Roman"/>
                <a:sym typeface="Times New Roman"/>
              </a:rPr>
              <a:t>For example: GPS in our smartphones. GPS uses shortest path algorithm. </a:t>
            </a:r>
            <a:endParaRPr b="1" i="0" sz="2988"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chemeClr val="dk1"/>
                </a:solidFill>
                <a:latin typeface="Times New Roman"/>
                <a:ea typeface="Times New Roman"/>
                <a:cs typeface="Times New Roman"/>
                <a:sym typeface="Times New Roman"/>
              </a:rPr>
              <a:t>Online shopping uses cryptography which uses RSA algorithm</a:t>
            </a:r>
            <a:endParaRPr b="1" i="0" sz="24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55f9865c41_0_9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42" name="Google Shape;242;g255f9865c41_0_9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43" name="Google Shape;243;g255f9865c41_0_9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44" name="Google Shape;244;g255f9865c41_0_9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45" name="Google Shape;245;g255f9865c41_0_9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g255f9865c41_0_9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g255f9865c41_0_9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48" name="Google Shape;248;g255f9865c41_0_9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9" name="Google Shape;249;g255f9865c41_0_94"/>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50" name="Google Shape;250;g255f9865c41_0_94"/>
          <p:cNvPicPr preferRelativeResize="0"/>
          <p:nvPr/>
        </p:nvPicPr>
        <p:blipFill rotWithShape="1">
          <a:blip r:embed="rId5">
            <a:alphaModFix/>
          </a:blip>
          <a:srcRect b="0" l="0" r="0" t="0"/>
          <a:stretch/>
        </p:blipFill>
        <p:spPr>
          <a:xfrm>
            <a:off x="4750" y="1676975"/>
            <a:ext cx="9134475" cy="5224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55f9865c41_1_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6" name="Google Shape;256;g255f9865c41_1_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57" name="Google Shape;257;g255f9865c41_1_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58" name="Google Shape;258;g255f9865c41_1_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59" name="Google Shape;259;g255f9865c41_1_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g255f9865c41_1_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g255f9865c41_1_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62" name="Google Shape;262;g255f9865c41_1_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3" name="Google Shape;263;g255f9865c41_1_1"/>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64" name="Google Shape;264;g255f9865c41_1_1"/>
          <p:cNvPicPr preferRelativeResize="0"/>
          <p:nvPr/>
        </p:nvPicPr>
        <p:blipFill rotWithShape="1">
          <a:blip r:embed="rId5">
            <a:alphaModFix/>
          </a:blip>
          <a:srcRect b="0" l="0" r="0" t="0"/>
          <a:stretch/>
        </p:blipFill>
        <p:spPr>
          <a:xfrm>
            <a:off x="4750" y="1690825"/>
            <a:ext cx="9134475" cy="5030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55f9865c41_1_1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70" name="Google Shape;270;g255f9865c41_1_1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71" name="Google Shape;271;g255f9865c41_1_1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72" name="Google Shape;272;g255f9865c41_1_1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73" name="Google Shape;273;g255f9865c41_1_1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g255f9865c41_1_1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g255f9865c41_1_1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76" name="Google Shape;276;g255f9865c41_1_1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7" name="Google Shape;277;g255f9865c41_1_15"/>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78" name="Google Shape;278;g255f9865c41_1_15"/>
          <p:cNvPicPr preferRelativeResize="0"/>
          <p:nvPr/>
        </p:nvPicPr>
        <p:blipFill rotWithShape="1">
          <a:blip r:embed="rId5">
            <a:alphaModFix/>
          </a:blip>
          <a:srcRect b="0" l="0" r="0" t="0"/>
          <a:stretch/>
        </p:blipFill>
        <p:spPr>
          <a:xfrm>
            <a:off x="83850" y="1870550"/>
            <a:ext cx="8961575" cy="47069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55f9865c41_1_2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84" name="Google Shape;284;g255f9865c41_1_2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85" name="Google Shape;285;g255f9865c41_1_2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86" name="Google Shape;286;g255f9865c41_1_2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87" name="Google Shape;287;g255f9865c41_1_2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g255f9865c41_1_2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g255f9865c41_1_2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90" name="Google Shape;290;g255f9865c41_1_2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1" name="Google Shape;291;g255f9865c41_1_29"/>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92" name="Google Shape;292;g255f9865c41_1_29"/>
          <p:cNvPicPr preferRelativeResize="0"/>
          <p:nvPr/>
        </p:nvPicPr>
        <p:blipFill rotWithShape="1">
          <a:blip r:embed="rId5">
            <a:alphaModFix/>
          </a:blip>
          <a:srcRect b="0" l="0" r="0" t="0"/>
          <a:stretch/>
        </p:blipFill>
        <p:spPr>
          <a:xfrm>
            <a:off x="166700" y="1120638"/>
            <a:ext cx="8810625" cy="36423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55f9865c41_1_4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98" name="Google Shape;298;g255f9865c41_1_4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99" name="Google Shape;299;g255f9865c41_1_4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00" name="Google Shape;300;g255f9865c41_1_4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01" name="Google Shape;301;g255f9865c41_1_4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g255f9865c41_1_4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g255f9865c41_1_4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04" name="Google Shape;304;g255f9865c41_1_4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5" name="Google Shape;305;g255f9865c41_1_4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06" name="Google Shape;306;g255f9865c41_1_43"/>
          <p:cNvPicPr preferRelativeResize="0"/>
          <p:nvPr/>
        </p:nvPicPr>
        <p:blipFill rotWithShape="1">
          <a:blip r:embed="rId5">
            <a:alphaModFix/>
          </a:blip>
          <a:srcRect b="0" l="0" r="0" t="0"/>
          <a:stretch/>
        </p:blipFill>
        <p:spPr>
          <a:xfrm>
            <a:off x="171450" y="1190325"/>
            <a:ext cx="8801100" cy="5529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255f9865c41_1_5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12" name="Google Shape;312;g255f9865c41_1_5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13" name="Google Shape;313;g255f9865c41_1_5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14" name="Google Shape;314;g255f9865c41_1_5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15" name="Google Shape;315;g255f9865c41_1_5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g255f9865c41_1_5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g255f9865c41_1_5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18" name="Google Shape;318;g255f9865c41_1_5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19" name="Google Shape;319;g255f9865c41_1_5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20" name="Google Shape;320;g255f9865c41_1_57"/>
          <p:cNvPicPr preferRelativeResize="0"/>
          <p:nvPr/>
        </p:nvPicPr>
        <p:blipFill rotWithShape="1">
          <a:blip r:embed="rId5">
            <a:alphaModFix/>
          </a:blip>
          <a:srcRect b="0" l="0" r="0" t="0"/>
          <a:stretch/>
        </p:blipFill>
        <p:spPr>
          <a:xfrm>
            <a:off x="105775" y="1482026"/>
            <a:ext cx="8932450" cy="590265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255f9865c41_1_7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26" name="Google Shape;326;g255f9865c41_1_7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27" name="Google Shape;327;g255f9865c41_1_7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28" name="Google Shape;328;g255f9865c41_1_7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29" name="Google Shape;329;g255f9865c41_1_7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0" name="Google Shape;330;g255f9865c41_1_7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g255f9865c41_1_7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32" name="Google Shape;332;g255f9865c41_1_7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3" name="Google Shape;333;g255f9865c41_1_7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34" name="Google Shape;334;g255f9865c41_1_71"/>
          <p:cNvPicPr preferRelativeResize="0"/>
          <p:nvPr/>
        </p:nvPicPr>
        <p:blipFill rotWithShape="1">
          <a:blip r:embed="rId5">
            <a:alphaModFix/>
          </a:blip>
          <a:srcRect b="0" l="0" r="0" t="0"/>
          <a:stretch/>
        </p:blipFill>
        <p:spPr>
          <a:xfrm>
            <a:off x="166700" y="1262076"/>
            <a:ext cx="8810625" cy="47778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255f9865c41_1_8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40" name="Google Shape;340;g255f9865c41_1_8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41" name="Google Shape;341;g255f9865c41_1_8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42" name="Google Shape;342;g255f9865c41_1_8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43" name="Google Shape;343;g255f9865c41_1_8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g255f9865c41_1_8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5" name="Google Shape;345;g255f9865c41_1_8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46" name="Google Shape;346;g255f9865c41_1_8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47" name="Google Shape;347;g255f9865c41_1_8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48" name="Google Shape;348;g255f9865c41_1_85"/>
          <p:cNvPicPr preferRelativeResize="0"/>
          <p:nvPr/>
        </p:nvPicPr>
        <p:blipFill rotWithShape="1">
          <a:blip r:embed="rId5">
            <a:alphaModFix/>
          </a:blip>
          <a:srcRect b="0" l="0" r="0" t="0"/>
          <a:stretch/>
        </p:blipFill>
        <p:spPr>
          <a:xfrm>
            <a:off x="147650" y="955350"/>
            <a:ext cx="8848725" cy="56788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255f9865c41_1_9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54" name="Google Shape;354;g255f9865c41_1_9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55" name="Google Shape;355;g255f9865c41_1_9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56" name="Google Shape;356;g255f9865c41_1_9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57" name="Google Shape;357;g255f9865c41_1_9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g255f9865c41_1_9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9" name="Google Shape;359;g255f9865c41_1_9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60" name="Google Shape;360;g255f9865c41_1_9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61" name="Google Shape;361;g255f9865c41_1_99"/>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62" name="Google Shape;362;g255f9865c41_1_99"/>
          <p:cNvPicPr preferRelativeResize="0"/>
          <p:nvPr/>
        </p:nvPicPr>
        <p:blipFill rotWithShape="1">
          <a:blip r:embed="rId5">
            <a:alphaModFix/>
          </a:blip>
          <a:srcRect b="1639" l="0" r="0" t="-1640"/>
          <a:stretch/>
        </p:blipFill>
        <p:spPr>
          <a:xfrm>
            <a:off x="52275" y="955350"/>
            <a:ext cx="9144001" cy="5766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255f9865c41_1_11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68" name="Google Shape;368;g255f9865c41_1_11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69" name="Google Shape;369;g255f9865c41_1_11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70" name="Google Shape;370;g255f9865c41_1_11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71" name="Google Shape;371;g255f9865c41_1_11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g255f9865c41_1_11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g255f9865c41_1_11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74" name="Google Shape;374;g255f9865c41_1_11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75" name="Google Shape;375;g255f9865c41_1_113"/>
          <p:cNvSpPr txBox="1"/>
          <p:nvPr/>
        </p:nvSpPr>
        <p:spPr>
          <a:xfrm>
            <a:off x="354842" y="1105287"/>
            <a:ext cx="8338800" cy="10257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288"/>
              <a:buFont typeface="Arial"/>
              <a:buNone/>
            </a:pPr>
            <a:r>
              <a:rPr b="1" i="0" lang="en-US" sz="2288" u="none" cap="none" strike="noStrike">
                <a:solidFill>
                  <a:srgbClr val="C00000"/>
                </a:solidFill>
                <a:latin typeface="Times New Roman"/>
                <a:ea typeface="Times New Roman"/>
                <a:cs typeface="Times New Roman"/>
                <a:sym typeface="Times New Roman"/>
              </a:rPr>
              <a:t>Order of Growth:</a:t>
            </a:r>
            <a:endParaRPr b="1" i="0" sz="2288" u="none" cap="none" strike="noStrike">
              <a:solidFill>
                <a:srgbClr val="C0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1588"/>
              <a:buFont typeface="Arial"/>
              <a:buNone/>
            </a:pPr>
            <a:r>
              <a:rPr b="1" i="0" lang="en-US" sz="1588" u="none" cap="none" strike="noStrike">
                <a:solidFill>
                  <a:schemeClr val="dk1"/>
                </a:solidFill>
                <a:latin typeface="Times New Roman"/>
                <a:ea typeface="Times New Roman"/>
                <a:cs typeface="Times New Roman"/>
                <a:sym typeface="Times New Roman"/>
              </a:rPr>
              <a:t>It is described by the highest degree term of the formula for running time. (Drop lower-order terms. Ignore the constant coefficient in the leading term.)</a:t>
            </a:r>
            <a:endParaRPr b="1" i="0" sz="1588" u="none" cap="none" strike="noStrike">
              <a:solidFill>
                <a:schemeClr val="dk1"/>
              </a:solidFill>
              <a:latin typeface="Times New Roman"/>
              <a:ea typeface="Times New Roman"/>
              <a:cs typeface="Times New Roman"/>
              <a:sym typeface="Times New Roman"/>
            </a:endParaRPr>
          </a:p>
        </p:txBody>
      </p:sp>
      <p:pic>
        <p:nvPicPr>
          <p:cNvPr id="376" name="Google Shape;376;g255f9865c41_1_113"/>
          <p:cNvPicPr preferRelativeResize="0"/>
          <p:nvPr/>
        </p:nvPicPr>
        <p:blipFill rotWithShape="1">
          <a:blip r:embed="rId5">
            <a:alphaModFix/>
          </a:blip>
          <a:srcRect b="0" l="0" r="0" t="2638"/>
          <a:stretch/>
        </p:blipFill>
        <p:spPr>
          <a:xfrm>
            <a:off x="404825" y="2182250"/>
            <a:ext cx="8334375" cy="4452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255f9865c41_1_12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82" name="Google Shape;382;g255f9865c41_1_12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83" name="Google Shape;383;g255f9865c41_1_12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84" name="Google Shape;384;g255f9865c41_1_12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85" name="Google Shape;385;g255f9865c41_1_12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g255f9865c41_1_12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7" name="Google Shape;387;g255f9865c41_1_12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88" name="Google Shape;388;g255f9865c41_1_12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89" name="Google Shape;389;g255f9865c41_1_12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90" name="Google Shape;390;g255f9865c41_1_127"/>
          <p:cNvPicPr preferRelativeResize="0"/>
          <p:nvPr/>
        </p:nvPicPr>
        <p:blipFill rotWithShape="1">
          <a:blip r:embed="rId5">
            <a:alphaModFix/>
          </a:blip>
          <a:srcRect b="0" l="0" r="0" t="0"/>
          <a:stretch/>
        </p:blipFill>
        <p:spPr>
          <a:xfrm>
            <a:off x="887650" y="1195400"/>
            <a:ext cx="7141925" cy="44672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255f9865c41_1_14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6" name="Google Shape;396;g255f9865c41_1_14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97" name="Google Shape;397;g255f9865c41_1_14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98" name="Google Shape;398;g255f9865c41_1_14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99" name="Google Shape;399;g255f9865c41_1_14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g255f9865c41_1_14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g255f9865c41_1_14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02" name="Google Shape;402;g255f9865c41_1_14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03" name="Google Shape;403;g255f9865c41_1_14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04" name="Google Shape;404;g255f9865c41_1_141"/>
          <p:cNvPicPr preferRelativeResize="0"/>
          <p:nvPr/>
        </p:nvPicPr>
        <p:blipFill rotWithShape="1">
          <a:blip r:embed="rId5">
            <a:alphaModFix/>
          </a:blip>
          <a:srcRect b="0" l="0" r="0" t="0"/>
          <a:stretch/>
        </p:blipFill>
        <p:spPr>
          <a:xfrm>
            <a:off x="628650" y="1495425"/>
            <a:ext cx="7167575" cy="4603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255f9865c41_1_21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10" name="Google Shape;410;g255f9865c41_1_21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11" name="Google Shape;411;g255f9865c41_1_21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12" name="Google Shape;412;g255f9865c41_1_21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13" name="Google Shape;413;g255f9865c41_1_21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g255f9865c41_1_21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g255f9865c41_1_21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16" name="Google Shape;416;g255f9865c41_1_21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17" name="Google Shape;417;g255f9865c41_1_214"/>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18" name="Google Shape;418;g255f9865c41_1_214"/>
          <p:cNvPicPr preferRelativeResize="0"/>
          <p:nvPr/>
        </p:nvPicPr>
        <p:blipFill rotWithShape="1">
          <a:blip r:embed="rId5">
            <a:alphaModFix/>
          </a:blip>
          <a:srcRect b="0" l="0" r="0" t="0"/>
          <a:stretch/>
        </p:blipFill>
        <p:spPr>
          <a:xfrm>
            <a:off x="379450" y="1708363"/>
            <a:ext cx="6743700" cy="49053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255f9865c41_1_22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24" name="Google Shape;424;g255f9865c41_1_22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25" name="Google Shape;425;g255f9865c41_1_22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26" name="Google Shape;426;g255f9865c41_1_22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27" name="Google Shape;427;g255f9865c41_1_22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g255f9865c41_1_22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g255f9865c41_1_22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30" name="Google Shape;430;g255f9865c41_1_22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31" name="Google Shape;431;g255f9865c41_1_22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32" name="Google Shape;432;g255f9865c41_1_228"/>
          <p:cNvPicPr preferRelativeResize="0"/>
          <p:nvPr/>
        </p:nvPicPr>
        <p:blipFill rotWithShape="1">
          <a:blip r:embed="rId5">
            <a:alphaModFix/>
          </a:blip>
          <a:srcRect b="0" l="0" r="0" t="0"/>
          <a:stretch/>
        </p:blipFill>
        <p:spPr>
          <a:xfrm>
            <a:off x="393725" y="1431913"/>
            <a:ext cx="6715125" cy="49244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255f9865c41_1_24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38" name="Google Shape;438;g255f9865c41_1_24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39" name="Google Shape;439;g255f9865c41_1_24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40" name="Google Shape;440;g255f9865c41_1_24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41" name="Google Shape;441;g255f9865c41_1_24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g255f9865c41_1_24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g255f9865c41_1_24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44" name="Google Shape;444;g255f9865c41_1_24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45" name="Google Shape;445;g255f9865c41_1_242"/>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46" name="Google Shape;446;g255f9865c41_1_242"/>
          <p:cNvPicPr preferRelativeResize="0"/>
          <p:nvPr/>
        </p:nvPicPr>
        <p:blipFill rotWithShape="1">
          <a:blip r:embed="rId5">
            <a:alphaModFix/>
          </a:blip>
          <a:srcRect b="0" l="0" r="0" t="0"/>
          <a:stretch/>
        </p:blipFill>
        <p:spPr>
          <a:xfrm>
            <a:off x="354850" y="1090975"/>
            <a:ext cx="6743700" cy="5000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255f9865c41_1_25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52" name="Google Shape;452;g255f9865c41_1_256"/>
          <p:cNvPicPr preferRelativeResize="0"/>
          <p:nvPr>
            <p:ph idx="1" type="body"/>
          </p:nvPr>
        </p:nvPicPr>
        <p:blipFill rotWithShape="1">
          <a:blip r:embed="rId3">
            <a:alphaModFix/>
          </a:blip>
          <a:srcRect b="0" l="0" r="0" t="0"/>
          <a:stretch/>
        </p:blipFill>
        <p:spPr>
          <a:xfrm>
            <a:off x="0" y="24114"/>
            <a:ext cx="9144000" cy="6858000"/>
          </a:xfrm>
          <a:prstGeom prst="rect">
            <a:avLst/>
          </a:prstGeom>
          <a:noFill/>
          <a:ln>
            <a:noFill/>
          </a:ln>
        </p:spPr>
      </p:pic>
      <p:pic>
        <p:nvPicPr>
          <p:cNvPr id="453" name="Google Shape;453;g255f9865c41_1_25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54" name="Google Shape;454;g255f9865c41_1_25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55" name="Google Shape;455;g255f9865c41_1_25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6" name="Google Shape;456;g255f9865c41_1_25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g255f9865c41_1_25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58" name="Google Shape;458;g255f9865c41_1_25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59" name="Google Shape;459;g255f9865c41_1_256"/>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60" name="Google Shape;460;g255f9865c41_1_256"/>
          <p:cNvPicPr preferRelativeResize="0"/>
          <p:nvPr/>
        </p:nvPicPr>
        <p:blipFill rotWithShape="1">
          <a:blip r:embed="rId5">
            <a:alphaModFix/>
          </a:blip>
          <a:srcRect b="0" l="0" r="0" t="0"/>
          <a:stretch/>
        </p:blipFill>
        <p:spPr>
          <a:xfrm>
            <a:off x="450363" y="1322775"/>
            <a:ext cx="6791325" cy="4953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255f9865c41_1_27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66" name="Google Shape;466;g255f9865c41_1_27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67" name="Google Shape;467;g255f9865c41_1_27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68" name="Google Shape;468;g255f9865c41_1_27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69" name="Google Shape;469;g255f9865c41_1_27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g255f9865c41_1_27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g255f9865c41_1_27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72" name="Google Shape;472;g255f9865c41_1_27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73" name="Google Shape;473;g255f9865c41_1_270"/>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74" name="Google Shape;474;g255f9865c41_1_270"/>
          <p:cNvPicPr preferRelativeResize="0"/>
          <p:nvPr/>
        </p:nvPicPr>
        <p:blipFill rotWithShape="1">
          <a:blip r:embed="rId5">
            <a:alphaModFix/>
          </a:blip>
          <a:srcRect b="0" l="0" r="0" t="0"/>
          <a:stretch/>
        </p:blipFill>
        <p:spPr>
          <a:xfrm>
            <a:off x="360400" y="1322763"/>
            <a:ext cx="6781800" cy="5038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255f9865c41_1_28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80" name="Google Shape;480;g255f9865c41_1_28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81" name="Google Shape;481;g255f9865c41_1_28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82" name="Google Shape;482;g255f9865c41_1_28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83" name="Google Shape;483;g255f9865c41_1_28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g255f9865c41_1_28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g255f9865c41_1_28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86" name="Google Shape;486;g255f9865c41_1_28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87" name="Google Shape;487;g255f9865c41_1_284"/>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88" name="Google Shape;488;g255f9865c41_1_284"/>
          <p:cNvPicPr preferRelativeResize="0"/>
          <p:nvPr/>
        </p:nvPicPr>
        <p:blipFill rotWithShape="1">
          <a:blip r:embed="rId5">
            <a:alphaModFix/>
          </a:blip>
          <a:srcRect b="0" l="0" r="0" t="0"/>
          <a:stretch/>
        </p:blipFill>
        <p:spPr>
          <a:xfrm>
            <a:off x="354850" y="1090600"/>
            <a:ext cx="6648450" cy="49448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ab6fe3b29e_0_0"/>
          <p:cNvSpPr txBox="1"/>
          <p:nvPr>
            <p:ph type="title"/>
          </p:nvPr>
        </p:nvSpPr>
        <p:spPr>
          <a:xfrm>
            <a:off x="628650" y="365126"/>
            <a:ext cx="78867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495" name="Google Shape;495;g3ab6fe3b29e_0_0"/>
          <p:cNvSpPr txBox="1"/>
          <p:nvPr>
            <p:ph idx="1" type="body"/>
          </p:nvPr>
        </p:nvSpPr>
        <p:spPr>
          <a:xfrm>
            <a:off x="628650" y="1825625"/>
            <a:ext cx="78867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96" name="Google Shape;496;g3ab6fe3b29e_0_0"/>
          <p:cNvSpPr txBox="1"/>
          <p:nvPr>
            <p:ph idx="12" type="sldNum"/>
          </p:nvPr>
        </p:nvSpPr>
        <p:spPr>
          <a:xfrm>
            <a:off x="6457950" y="6356351"/>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255f9865c41_1_15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02" name="Google Shape;502;g255f9865c41_1_15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03" name="Google Shape;503;g255f9865c41_1_15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04" name="Google Shape;504;g255f9865c41_1_15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05" name="Google Shape;505;g255f9865c41_1_15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6" name="Google Shape;506;g255f9865c41_1_15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g255f9865c41_1_15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08" name="Google Shape;508;g255f9865c41_1_15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09" name="Google Shape;509;g255f9865c41_1_15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10" name="Google Shape;510;g255f9865c41_1_155"/>
          <p:cNvSpPr txBox="1"/>
          <p:nvPr/>
        </p:nvSpPr>
        <p:spPr>
          <a:xfrm>
            <a:off x="718275" y="1322775"/>
            <a:ext cx="8070900" cy="472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C00000"/>
                </a:solidFill>
                <a:latin typeface="Arial"/>
                <a:ea typeface="Arial"/>
                <a:cs typeface="Arial"/>
                <a:sym typeface="Arial"/>
              </a:rPr>
              <a:t>Asymptotic notation</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It is a way to describe the characteristics of a function in the limit.</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 It describes the rate of growth of functions.</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Focus on what’s important by abstracting away low-order terms and constant factors. It is a way to compare “sizes” of functions: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O≈ ≤ Ω≈ ≥ Θ ≈ = o ≈ &lt; ω ≈ &gt;</a:t>
            </a:r>
            <a:endParaRPr b="0" i="0" sz="25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255f9865c41_1_18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16" name="Google Shape;516;g255f9865c41_1_185"/>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17" name="Google Shape;517;g255f9865c41_1_18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18" name="Google Shape;518;g255f9865c41_1_18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19" name="Google Shape;519;g255f9865c41_1_18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0" name="Google Shape;520;g255f9865c41_1_18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1" name="Google Shape;521;g255f9865c41_1_18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22" name="Google Shape;522;g255f9865c41_1_18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23" name="Google Shape;523;g255f9865c41_1_18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24" name="Google Shape;524;g255f9865c41_1_185"/>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25" name="Google Shape;525;g255f9865c41_1_185"/>
          <p:cNvPicPr preferRelativeResize="0"/>
          <p:nvPr/>
        </p:nvPicPr>
        <p:blipFill rotWithShape="1">
          <a:blip r:embed="rId5">
            <a:alphaModFix/>
          </a:blip>
          <a:srcRect b="0" l="0" r="0" t="0"/>
          <a:stretch/>
        </p:blipFill>
        <p:spPr>
          <a:xfrm>
            <a:off x="628650" y="1323975"/>
            <a:ext cx="7172325" cy="50323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255f9865c41_1_19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31" name="Google Shape;531;g255f9865c41_1_199"/>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32" name="Google Shape;532;g255f9865c41_1_19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33" name="Google Shape;533;g255f9865c41_1_19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34" name="Google Shape;534;g255f9865c41_1_19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g255f9865c41_1_19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g255f9865c41_1_19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37" name="Google Shape;537;g255f9865c41_1_19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38" name="Google Shape;538;g255f9865c41_1_199"/>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39" name="Google Shape;539;g255f9865c41_1_199"/>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40" name="Google Shape;540;g255f9865c41_1_199"/>
          <p:cNvPicPr preferRelativeResize="0"/>
          <p:nvPr/>
        </p:nvPicPr>
        <p:blipFill rotWithShape="1">
          <a:blip r:embed="rId5">
            <a:alphaModFix/>
          </a:blip>
          <a:srcRect b="0" l="0" r="0" t="0"/>
          <a:stretch/>
        </p:blipFill>
        <p:spPr>
          <a:xfrm>
            <a:off x="628650" y="1322775"/>
            <a:ext cx="6819900" cy="53600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g255f9865c41_1_29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46" name="Google Shape;546;g255f9865c41_1_29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47" name="Google Shape;547;g255f9865c41_1_29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48" name="Google Shape;548;g255f9865c41_1_29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49" name="Google Shape;549;g255f9865c41_1_29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g255f9865c41_1_29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1" name="Google Shape;551;g255f9865c41_1_29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52" name="Google Shape;552;g255f9865c41_1_29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53" name="Google Shape;553;g255f9865c41_1_29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54" name="Google Shape;554;g255f9865c41_1_29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55" name="Google Shape;555;g255f9865c41_1_298"/>
          <p:cNvPicPr preferRelativeResize="0"/>
          <p:nvPr/>
        </p:nvPicPr>
        <p:blipFill rotWithShape="1">
          <a:blip r:embed="rId5">
            <a:alphaModFix/>
          </a:blip>
          <a:srcRect b="0" l="0" r="0" t="0"/>
          <a:stretch/>
        </p:blipFill>
        <p:spPr>
          <a:xfrm>
            <a:off x="450363" y="1105263"/>
            <a:ext cx="6848475" cy="5172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255f9865c41_1_31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61" name="Google Shape;561;g255f9865c41_1_31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62" name="Google Shape;562;g255f9865c41_1_31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63" name="Google Shape;563;g255f9865c41_1_31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64" name="Google Shape;564;g255f9865c41_1_31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g255f9865c41_1_31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g255f9865c41_1_31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67" name="Google Shape;567;g255f9865c41_1_31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68" name="Google Shape;568;g255f9865c41_1_31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69" name="Google Shape;569;g255f9865c41_1_31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70" name="Google Shape;570;g255f9865c41_1_313"/>
          <p:cNvPicPr preferRelativeResize="0"/>
          <p:nvPr/>
        </p:nvPicPr>
        <p:blipFill rotWithShape="1">
          <a:blip r:embed="rId5">
            <a:alphaModFix/>
          </a:blip>
          <a:srcRect b="0" l="0" r="0" t="0"/>
          <a:stretch/>
        </p:blipFill>
        <p:spPr>
          <a:xfrm>
            <a:off x="450363" y="1304900"/>
            <a:ext cx="6772275" cy="4248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255f9865c41_1_32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76" name="Google Shape;576;g255f9865c41_1_32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77" name="Google Shape;577;g255f9865c41_1_32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78" name="Google Shape;578;g255f9865c41_1_32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79" name="Google Shape;579;g255f9865c41_1_32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0" name="Google Shape;580;g255f9865c41_1_32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g255f9865c41_1_32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82" name="Google Shape;582;g255f9865c41_1_32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83" name="Google Shape;583;g255f9865c41_1_32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84" name="Google Shape;584;g255f9865c41_1_32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85" name="Google Shape;585;g255f9865c41_1_328"/>
          <p:cNvPicPr preferRelativeResize="0"/>
          <p:nvPr/>
        </p:nvPicPr>
        <p:blipFill rotWithShape="1">
          <a:blip r:embed="rId5">
            <a:alphaModFix/>
          </a:blip>
          <a:srcRect b="0" l="0" r="0" t="0"/>
          <a:stretch/>
        </p:blipFill>
        <p:spPr>
          <a:xfrm>
            <a:off x="450375" y="1174750"/>
            <a:ext cx="6877050" cy="5181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255f9865c41_1_34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91" name="Google Shape;591;g255f9865c41_1_34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92" name="Google Shape;592;g255f9865c41_1_34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93" name="Google Shape;593;g255f9865c41_1_34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94" name="Google Shape;594;g255f9865c41_1_34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5" name="Google Shape;595;g255f9865c41_1_34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g255f9865c41_1_34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97" name="Google Shape;597;g255f9865c41_1_34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98" name="Google Shape;598;g255f9865c41_1_34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99" name="Google Shape;599;g255f9865c41_1_34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00" name="Google Shape;600;g255f9865c41_1_343"/>
          <p:cNvPicPr preferRelativeResize="0"/>
          <p:nvPr/>
        </p:nvPicPr>
        <p:blipFill rotWithShape="1">
          <a:blip r:embed="rId5">
            <a:alphaModFix/>
          </a:blip>
          <a:srcRect b="0" l="0" r="0" t="0"/>
          <a:stretch/>
        </p:blipFill>
        <p:spPr>
          <a:xfrm>
            <a:off x="636625" y="1322775"/>
            <a:ext cx="6578849" cy="4876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255f9865c41_1_35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06" name="Google Shape;606;g255f9865c41_1_35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07" name="Google Shape;607;g255f9865c41_1_35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08" name="Google Shape;608;g255f9865c41_1_35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09" name="Google Shape;609;g255f9865c41_1_35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g255f9865c41_1_35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g255f9865c41_1_35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12" name="Google Shape;612;g255f9865c41_1_35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13" name="Google Shape;613;g255f9865c41_1_35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14" name="Google Shape;614;g255f9865c41_1_35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15" name="Google Shape;615;g255f9865c41_1_358"/>
          <p:cNvPicPr preferRelativeResize="0"/>
          <p:nvPr/>
        </p:nvPicPr>
        <p:blipFill rotWithShape="1">
          <a:blip r:embed="rId5">
            <a:alphaModFix/>
          </a:blip>
          <a:srcRect b="0" l="0" r="0" t="0"/>
          <a:stretch/>
        </p:blipFill>
        <p:spPr>
          <a:xfrm>
            <a:off x="455650" y="1322775"/>
            <a:ext cx="6591300" cy="50863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255f9865c41_1_37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21" name="Google Shape;621;g255f9865c41_1_37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22" name="Google Shape;622;g255f9865c41_1_37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23" name="Google Shape;623;g255f9865c41_1_37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24" name="Google Shape;624;g255f9865c41_1_37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g255f9865c41_1_37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g255f9865c41_1_37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27" name="Google Shape;627;g255f9865c41_1_37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28" name="Google Shape;628;g255f9865c41_1_37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29" name="Google Shape;629;g255f9865c41_1_37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30" name="Google Shape;630;g255f9865c41_1_373"/>
          <p:cNvPicPr preferRelativeResize="0"/>
          <p:nvPr/>
        </p:nvPicPr>
        <p:blipFill rotWithShape="1">
          <a:blip r:embed="rId5">
            <a:alphaModFix/>
          </a:blip>
          <a:srcRect b="0" l="0" r="0" t="0"/>
          <a:stretch/>
        </p:blipFill>
        <p:spPr>
          <a:xfrm>
            <a:off x="514350" y="955350"/>
            <a:ext cx="7506474" cy="4009100"/>
          </a:xfrm>
          <a:prstGeom prst="rect">
            <a:avLst/>
          </a:prstGeom>
          <a:noFill/>
          <a:ln>
            <a:noFill/>
          </a:ln>
        </p:spPr>
      </p:pic>
      <p:pic>
        <p:nvPicPr>
          <p:cNvPr id="631" name="Google Shape;631;g255f9865c41_1_373"/>
          <p:cNvPicPr preferRelativeResize="0"/>
          <p:nvPr/>
        </p:nvPicPr>
        <p:blipFill rotWithShape="1">
          <a:blip r:embed="rId6">
            <a:alphaModFix/>
          </a:blip>
          <a:srcRect b="0" l="0" r="0" t="0"/>
          <a:stretch/>
        </p:blipFill>
        <p:spPr>
          <a:xfrm>
            <a:off x="315425" y="4237075"/>
            <a:ext cx="7705399" cy="26817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255f9865c41_1_38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37" name="Google Shape;637;g255f9865c41_1_38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38" name="Google Shape;638;g255f9865c41_1_38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39" name="Google Shape;639;g255f9865c41_1_38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40" name="Google Shape;640;g255f9865c41_1_38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g255f9865c41_1_38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2" name="Google Shape;642;g255f9865c41_1_38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43" name="Google Shape;643;g255f9865c41_1_38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44" name="Google Shape;644;g255f9865c41_1_38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45" name="Google Shape;645;g255f9865c41_1_38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46" name="Google Shape;646;g255f9865c41_1_388"/>
          <p:cNvPicPr preferRelativeResize="0"/>
          <p:nvPr/>
        </p:nvPicPr>
        <p:blipFill rotWithShape="1">
          <a:blip r:embed="rId5">
            <a:alphaModFix/>
          </a:blip>
          <a:srcRect b="0" l="0" r="0" t="0"/>
          <a:stretch/>
        </p:blipFill>
        <p:spPr>
          <a:xfrm>
            <a:off x="628650" y="1284125"/>
            <a:ext cx="6877576" cy="50722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255f9865c41_1_40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52" name="Google Shape;652;g255f9865c41_1_40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53" name="Google Shape;653;g255f9865c41_1_40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54" name="Google Shape;654;g255f9865c41_1_40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55" name="Google Shape;655;g255f9865c41_1_40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g255f9865c41_1_40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7" name="Google Shape;657;g255f9865c41_1_40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58" name="Google Shape;658;g255f9865c41_1_40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59" name="Google Shape;659;g255f9865c41_1_40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60" name="Google Shape;660;g255f9865c41_1_40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61" name="Google Shape;661;g255f9865c41_1_403"/>
          <p:cNvPicPr preferRelativeResize="0"/>
          <p:nvPr/>
        </p:nvPicPr>
        <p:blipFill rotWithShape="1">
          <a:blip r:embed="rId5">
            <a:alphaModFix/>
          </a:blip>
          <a:srcRect b="0" l="0" r="0" t="0"/>
          <a:stretch/>
        </p:blipFill>
        <p:spPr>
          <a:xfrm>
            <a:off x="450375" y="1308100"/>
            <a:ext cx="6953224" cy="5048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255f9865c41_1_41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67" name="Google Shape;667;g255f9865c41_1_41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68" name="Google Shape;668;g255f9865c41_1_41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69" name="Google Shape;669;g255f9865c41_1_41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70" name="Google Shape;670;g255f9865c41_1_41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1" name="Google Shape;671;g255f9865c41_1_41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2" name="Google Shape;672;g255f9865c41_1_41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73" name="Google Shape;673;g255f9865c41_1_41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74" name="Google Shape;674;g255f9865c41_1_41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75" name="Google Shape;675;g255f9865c41_1_41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76" name="Google Shape;676;g255f9865c41_1_418"/>
          <p:cNvPicPr preferRelativeResize="0"/>
          <p:nvPr/>
        </p:nvPicPr>
        <p:blipFill rotWithShape="1">
          <a:blip r:embed="rId5">
            <a:alphaModFix/>
          </a:blip>
          <a:srcRect b="0" l="0" r="0" t="0"/>
          <a:stretch/>
        </p:blipFill>
        <p:spPr>
          <a:xfrm>
            <a:off x="450375" y="1290625"/>
            <a:ext cx="6594075" cy="5150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255f9865c41_1_43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82" name="Google Shape;682;g255f9865c41_1_43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83" name="Google Shape;683;g255f9865c41_1_43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84" name="Google Shape;684;g255f9865c41_1_43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85" name="Google Shape;685;g255f9865c41_1_43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g255f9865c41_1_43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7" name="Google Shape;687;g255f9865c41_1_43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88" name="Google Shape;688;g255f9865c41_1_4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89" name="Google Shape;689;g255f9865c41_1_43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90" name="Google Shape;690;g255f9865c41_1_43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691" name="Google Shape;691;g255f9865c41_1_433"/>
          <p:cNvSpPr txBox="1"/>
          <p:nvPr/>
        </p:nvSpPr>
        <p:spPr>
          <a:xfrm>
            <a:off x="197800" y="1181325"/>
            <a:ext cx="8249100" cy="564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Algorithm analysis:</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The measure of an input’s size here is the number of elements in the array, i.e., n.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There are two operations in the for loop’s body: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o The comparison A[i]&gt; maxval and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o The assignment max val←A[i].</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 The comparison operation is considered as the algorithm basic operation, because the comparison is executed on each repetition of the loop and not the assignment.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The number of comparisons will be the same for all arrays of size n;</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therefore, there is no need to distinguish among the worst, average, and best cases here.</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 Let C(n) denotes the number of times this comparison is executed. The algorithm makes one comparison on each execution of the loop, which is repeated for each value of the loop’s variable i within the bounds 1 and n − 1, inclusive.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Therefore, the sum for C(n) is calculated as follows:</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255f9865c41_1_45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97" name="Google Shape;697;g255f9865c41_1_454"/>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98" name="Google Shape;698;g255f9865c41_1_45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99" name="Google Shape;699;g255f9865c41_1_45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00" name="Google Shape;700;g255f9865c41_1_454"/>
          <p:cNvSpPr/>
          <p:nvPr/>
        </p:nvSpPr>
        <p:spPr>
          <a:xfrm>
            <a:off x="197825" y="1322775"/>
            <a:ext cx="6436200" cy="10305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333333"/>
                </a:solidFill>
                <a:highlight>
                  <a:srgbClr val="FFFFFF"/>
                </a:highlight>
                <a:latin typeface="Times New Roman"/>
                <a:ea typeface="Times New Roman"/>
                <a:cs typeface="Times New Roman"/>
                <a:sym typeface="Times New Roman"/>
              </a:rPr>
              <a:t>Therefore, we get the following sum for </a:t>
            </a:r>
            <a:r>
              <a:rPr b="1" i="1" lang="en-US" sz="1400" u="none" cap="none" strike="noStrike">
                <a:solidFill>
                  <a:srgbClr val="333333"/>
                </a:solidFill>
                <a:highlight>
                  <a:srgbClr val="FFFFFF"/>
                </a:highlight>
                <a:latin typeface="Arial"/>
                <a:ea typeface="Arial"/>
                <a:cs typeface="Arial"/>
                <a:sym typeface="Arial"/>
              </a:rPr>
              <a:t>C(n)</a:t>
            </a:r>
            <a:r>
              <a:rPr b="0" i="0" lang="en-US" sz="1400" u="none" cap="none" strike="noStrike">
                <a:solidFill>
                  <a:srgbClr val="333333"/>
                </a:solidFill>
                <a:highlight>
                  <a:srgbClr val="FFFFFF"/>
                </a:highlight>
                <a:latin typeface="Times New Roman"/>
                <a:ea typeface="Times New Roman"/>
                <a:cs typeface="Times New Roman"/>
                <a:sym typeface="Times New Roman"/>
              </a:rPr>
              <a:t>:</a:t>
            </a:r>
            <a:endParaRPr b="0" i="0" sz="1800" u="none" cap="none" strike="noStrike">
              <a:solidFill>
                <a:schemeClr val="dk1"/>
              </a:solidFill>
              <a:latin typeface="Calibri"/>
              <a:ea typeface="Calibri"/>
              <a:cs typeface="Calibri"/>
              <a:sym typeface="Calibri"/>
            </a:endParaRPr>
          </a:p>
        </p:txBody>
      </p:sp>
      <p:sp>
        <p:nvSpPr>
          <p:cNvPr id="701" name="Google Shape;701;g255f9865c41_1_45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g255f9865c41_1_45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03" name="Google Shape;703;g255f9865c41_1_45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04" name="Google Shape;704;g255f9865c41_1_454"/>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05" name="Google Shape;705;g255f9865c41_1_454"/>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06" name="Google Shape;706;g255f9865c41_1_454"/>
          <p:cNvSpPr txBox="1"/>
          <p:nvPr/>
        </p:nvSpPr>
        <p:spPr>
          <a:xfrm>
            <a:off x="197825" y="2250850"/>
            <a:ext cx="824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7" name="Google Shape;707;g255f9865c41_1_454"/>
          <p:cNvPicPr preferRelativeResize="0"/>
          <p:nvPr/>
        </p:nvPicPr>
        <p:blipFill rotWithShape="1">
          <a:blip r:embed="rId5">
            <a:alphaModFix/>
          </a:blip>
          <a:srcRect b="0" l="0" r="0" t="0"/>
          <a:stretch/>
        </p:blipFill>
        <p:spPr>
          <a:xfrm>
            <a:off x="450375" y="2309825"/>
            <a:ext cx="7598251" cy="2695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255f9865c41_1_48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13" name="Google Shape;713;g255f9865c41_1_48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14" name="Google Shape;714;g255f9865c41_1_48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15" name="Google Shape;715;g255f9865c41_1_48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16" name="Google Shape;716;g255f9865c41_1_48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7" name="Google Shape;717;g255f9865c41_1_48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18" name="Google Shape;718;g255f9865c41_1_48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19" name="Google Shape;719;g255f9865c41_1_48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20" name="Google Shape;720;g255f9865c41_1_48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21" name="Google Shape;721;g255f9865c41_1_488"/>
          <p:cNvSpPr txBox="1"/>
          <p:nvPr/>
        </p:nvSpPr>
        <p:spPr>
          <a:xfrm>
            <a:off x="197825" y="2250850"/>
            <a:ext cx="824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22" name="Google Shape;722;g255f9865c41_1_488"/>
          <p:cNvPicPr preferRelativeResize="0"/>
          <p:nvPr/>
        </p:nvPicPr>
        <p:blipFill rotWithShape="1">
          <a:blip r:embed="rId5">
            <a:alphaModFix/>
          </a:blip>
          <a:srcRect b="0" l="0" r="0" t="0"/>
          <a:stretch/>
        </p:blipFill>
        <p:spPr>
          <a:xfrm>
            <a:off x="628650" y="1224325"/>
            <a:ext cx="6515100" cy="47339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255f9865c41_1_51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28" name="Google Shape;728;g255f9865c41_1_51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29" name="Google Shape;729;g255f9865c41_1_51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30" name="Google Shape;730;g255f9865c41_1_51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31" name="Google Shape;731;g255f9865c41_1_51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2" name="Google Shape;732;g255f9865c41_1_51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3" name="Google Shape;733;g255f9865c41_1_51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34" name="Google Shape;734;g255f9865c41_1_51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35" name="Google Shape;735;g255f9865c41_1_51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36" name="Google Shape;736;g255f9865c41_1_51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37" name="Google Shape;737;g255f9865c41_1_518"/>
          <p:cNvSpPr txBox="1"/>
          <p:nvPr/>
        </p:nvSpPr>
        <p:spPr>
          <a:xfrm>
            <a:off x="197800" y="1181325"/>
            <a:ext cx="8249100" cy="511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Algorithm analysis:</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The measure of an input’s size here is the number of elements in the array, i.e., n.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There are two Comparisons</a:t>
            </a:r>
            <a:r>
              <a:rPr b="0" i="0" lang="en-US" sz="2200" u="none" cap="none" strike="noStrike">
                <a:solidFill>
                  <a:srgbClr val="333333"/>
                </a:solidFill>
                <a:highlight>
                  <a:srgbClr val="FFFFFF"/>
                </a:highlight>
                <a:latin typeface="Arial"/>
                <a:ea typeface="Arial"/>
                <a:cs typeface="Arial"/>
                <a:sym typeface="Arial"/>
              </a:rPr>
              <a:t>:</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333333"/>
                </a:solidFill>
                <a:highlight>
                  <a:srgbClr val="FFFFFF"/>
                </a:highlight>
                <a:latin typeface="Arial"/>
                <a:ea typeface="Arial"/>
                <a:cs typeface="Arial"/>
                <a:sym typeface="Arial"/>
              </a:rPr>
              <a:t>one comparison is made for each repetition of the innermost loop, i.e., for each value of the loop variable </a:t>
            </a:r>
            <a:r>
              <a:rPr b="1" i="1" lang="en-US" sz="2200" u="none" cap="none" strike="noStrike">
                <a:solidFill>
                  <a:srgbClr val="333333"/>
                </a:solidFill>
                <a:highlight>
                  <a:srgbClr val="FFFFFF"/>
                </a:highlight>
                <a:latin typeface="Arial"/>
                <a:ea typeface="Arial"/>
                <a:cs typeface="Arial"/>
                <a:sym typeface="Arial"/>
              </a:rPr>
              <a:t>j</a:t>
            </a:r>
            <a:r>
              <a:rPr b="0" i="0" lang="en-US" sz="2200" u="none" cap="none" strike="noStrike">
                <a:solidFill>
                  <a:srgbClr val="333333"/>
                </a:solidFill>
                <a:highlight>
                  <a:srgbClr val="FFFFFF"/>
                </a:highlight>
                <a:latin typeface="Arial"/>
                <a:ea typeface="Arial"/>
                <a:cs typeface="Arial"/>
                <a:sym typeface="Arial"/>
              </a:rPr>
              <a:t> between its limits </a:t>
            </a:r>
            <a:r>
              <a:rPr b="1" i="1" lang="en-US" sz="2200" u="none" cap="none" strike="noStrike">
                <a:solidFill>
                  <a:srgbClr val="333333"/>
                </a:solidFill>
                <a:highlight>
                  <a:srgbClr val="FFFFFF"/>
                </a:highlight>
                <a:latin typeface="Arial"/>
                <a:ea typeface="Arial"/>
                <a:cs typeface="Arial"/>
                <a:sym typeface="Arial"/>
              </a:rPr>
              <a:t>i</a:t>
            </a:r>
            <a:r>
              <a:rPr b="0" i="0" lang="en-US" sz="2200" u="none" cap="none" strike="noStrike">
                <a:solidFill>
                  <a:srgbClr val="333333"/>
                </a:solidFill>
                <a:highlight>
                  <a:srgbClr val="FFFFFF"/>
                </a:highlight>
                <a:latin typeface="Arial"/>
                <a:ea typeface="Arial"/>
                <a:cs typeface="Arial"/>
                <a:sym typeface="Arial"/>
              </a:rPr>
              <a:t> + 1 and </a:t>
            </a:r>
            <a:r>
              <a:rPr b="1" i="1" lang="en-US" sz="2200" u="none" cap="none" strike="noStrike">
                <a:solidFill>
                  <a:srgbClr val="333333"/>
                </a:solidFill>
                <a:highlight>
                  <a:srgbClr val="FFFFFF"/>
                </a:highlight>
                <a:latin typeface="Arial"/>
                <a:ea typeface="Arial"/>
                <a:cs typeface="Arial"/>
                <a:sym typeface="Arial"/>
              </a:rPr>
              <a:t>n</a:t>
            </a:r>
            <a:r>
              <a:rPr b="0" i="0" lang="en-US" sz="2200" u="none" cap="none" strike="noStrike">
                <a:solidFill>
                  <a:srgbClr val="333333"/>
                </a:solidFill>
                <a:highlight>
                  <a:srgbClr val="FFFFFF"/>
                </a:highlight>
                <a:latin typeface="Arial"/>
                <a:ea typeface="Arial"/>
                <a:cs typeface="Arial"/>
                <a:sym typeface="Arial"/>
              </a:rPr>
              <a:t> − 1; </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333333"/>
                </a:solidFill>
                <a:highlight>
                  <a:srgbClr val="FFFFFF"/>
                </a:highlight>
                <a:latin typeface="Arial"/>
                <a:ea typeface="Arial"/>
                <a:cs typeface="Arial"/>
                <a:sym typeface="Arial"/>
              </a:rPr>
              <a:t>The same  is repeated for each value of the outer loop, i.e., for each value of the loop variable </a:t>
            </a:r>
            <a:r>
              <a:rPr b="1" i="1" lang="en-US" sz="2200" u="none" cap="none" strike="noStrike">
                <a:solidFill>
                  <a:srgbClr val="333333"/>
                </a:solidFill>
                <a:highlight>
                  <a:srgbClr val="FFFFFF"/>
                </a:highlight>
                <a:latin typeface="Arial"/>
                <a:ea typeface="Arial"/>
                <a:cs typeface="Arial"/>
                <a:sym typeface="Arial"/>
              </a:rPr>
              <a:t>i</a:t>
            </a:r>
            <a:r>
              <a:rPr b="0" i="0" lang="en-US" sz="2200" u="none" cap="none" strike="noStrike">
                <a:solidFill>
                  <a:srgbClr val="333333"/>
                </a:solidFill>
                <a:highlight>
                  <a:srgbClr val="FFFFFF"/>
                </a:highlight>
                <a:latin typeface="Arial"/>
                <a:ea typeface="Arial"/>
                <a:cs typeface="Arial"/>
                <a:sym typeface="Arial"/>
              </a:rPr>
              <a:t> between its limits 0 and </a:t>
            </a:r>
            <a:r>
              <a:rPr b="1" i="1" lang="en-US" sz="2200" u="none" cap="none" strike="noStrike">
                <a:solidFill>
                  <a:srgbClr val="333333"/>
                </a:solidFill>
                <a:highlight>
                  <a:srgbClr val="FFFFFF"/>
                </a:highlight>
                <a:latin typeface="Arial"/>
                <a:ea typeface="Arial"/>
                <a:cs typeface="Arial"/>
                <a:sym typeface="Arial"/>
              </a:rPr>
              <a:t>n</a:t>
            </a:r>
            <a:r>
              <a:rPr b="0" i="0" lang="en-US" sz="2200" u="none" cap="none" strike="noStrike">
                <a:solidFill>
                  <a:srgbClr val="333333"/>
                </a:solidFill>
                <a:highlight>
                  <a:srgbClr val="FFFFFF"/>
                </a:highlight>
                <a:latin typeface="Arial"/>
                <a:ea typeface="Arial"/>
                <a:cs typeface="Arial"/>
                <a:sym typeface="Arial"/>
              </a:rPr>
              <a:t> − 2</a:t>
            </a:r>
            <a:r>
              <a:rPr b="1" i="1" lang="en-US" sz="2200" u="none" cap="none" strike="noStrike">
                <a:solidFill>
                  <a:srgbClr val="333333"/>
                </a:solidFill>
                <a:highlight>
                  <a:srgbClr val="FFFFFF"/>
                </a:highlight>
                <a:latin typeface="Arial"/>
                <a:ea typeface="Arial"/>
                <a:cs typeface="Arial"/>
                <a:sym typeface="Arial"/>
              </a:rPr>
              <a:t>.</a:t>
            </a:r>
            <a:r>
              <a:rPr b="0" i="0" lang="en-US" sz="2200" u="none" cap="none" strike="noStrike">
                <a:solidFill>
                  <a:srgbClr val="333333"/>
                </a:solidFill>
                <a:highlight>
                  <a:srgbClr val="FFFFFF"/>
                </a:highlight>
                <a:latin typeface="Arial"/>
                <a:ea typeface="Arial"/>
                <a:cs typeface="Arial"/>
                <a:sym typeface="Arial"/>
              </a:rPr>
              <a:t> Accordingly, we get</a:t>
            </a:r>
            <a:r>
              <a:rPr b="0" i="0" lang="en-US" sz="2200" u="none" cap="none" strike="noStrike">
                <a:solidFill>
                  <a:srgbClr val="000000"/>
                </a:solidFill>
                <a:latin typeface="Arial"/>
                <a:ea typeface="Arial"/>
                <a:cs typeface="Arial"/>
                <a:sym typeface="Arial"/>
              </a:rPr>
              <a:t> the for loop’s body:</a:t>
            </a:r>
            <a:r>
              <a:rPr b="0" i="0" lang="en-US" sz="1700" u="none" cap="none" strike="noStrike">
                <a:solidFill>
                  <a:srgbClr val="000000"/>
                </a:solidFill>
                <a:latin typeface="Arial"/>
                <a:ea typeface="Arial"/>
                <a:cs typeface="Arial"/>
                <a:sym typeface="Arial"/>
              </a:rPr>
              <a:t>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255f9865c41_1_53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43" name="Google Shape;743;g255f9865c41_1_53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44" name="Google Shape;744;g255f9865c41_1_53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45" name="Google Shape;745;g255f9865c41_1_53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46" name="Google Shape;746;g255f9865c41_1_53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g255f9865c41_1_53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g255f9865c41_1_53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49" name="Google Shape;749;g255f9865c41_1_5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50" name="Google Shape;750;g255f9865c41_1_53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51" name="Google Shape;751;g255f9865c41_1_53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52" name="Google Shape;752;g255f9865c41_1_533"/>
          <p:cNvSpPr txBox="1"/>
          <p:nvPr/>
        </p:nvSpPr>
        <p:spPr>
          <a:xfrm>
            <a:off x="197800" y="1181325"/>
            <a:ext cx="8249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Algorithm analysis:</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a:t>
            </a:r>
            <a:endParaRPr b="1" i="0" sz="1600" u="none" cap="none" strike="noStrike">
              <a:solidFill>
                <a:srgbClr val="000000"/>
              </a:solidFill>
              <a:latin typeface="Arial"/>
              <a:ea typeface="Arial"/>
              <a:cs typeface="Arial"/>
              <a:sym typeface="Arial"/>
            </a:endParaRPr>
          </a:p>
        </p:txBody>
      </p:sp>
      <p:pic>
        <p:nvPicPr>
          <p:cNvPr id="753" name="Google Shape;753;g255f9865c41_1_533"/>
          <p:cNvPicPr preferRelativeResize="0"/>
          <p:nvPr/>
        </p:nvPicPr>
        <p:blipFill rotWithShape="1">
          <a:blip r:embed="rId5">
            <a:alphaModFix/>
          </a:blip>
          <a:srcRect b="0" l="0" r="0" t="0"/>
          <a:stretch/>
        </p:blipFill>
        <p:spPr>
          <a:xfrm>
            <a:off x="450375" y="2190650"/>
            <a:ext cx="6474375" cy="3896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255f986635b_0_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59" name="Google Shape;759;g255f986635b_0_1"/>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60" name="Google Shape;760;g255f986635b_0_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61" name="Google Shape;761;g255f986635b_0_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62" name="Google Shape;762;g255f986635b_0_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3" name="Google Shape;763;g255f986635b_0_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4" name="Google Shape;764;g255f986635b_0_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65" name="Google Shape;765;g255f986635b_0_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66" name="Google Shape;766;g255f986635b_0_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67" name="Google Shape;767;g255f986635b_0_1"/>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68" name="Google Shape;768;g255f986635b_0_1"/>
          <p:cNvSpPr txBox="1"/>
          <p:nvPr/>
        </p:nvSpPr>
        <p:spPr>
          <a:xfrm>
            <a:off x="197800" y="1181325"/>
            <a:ext cx="8249100" cy="6110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dk1"/>
                </a:solidFill>
                <a:highlight>
                  <a:srgbClr val="FFFFFF"/>
                </a:highlight>
                <a:latin typeface="Roboto"/>
                <a:ea typeface="Roboto"/>
                <a:cs typeface="Roboto"/>
                <a:sym typeface="Roboto"/>
              </a:rPr>
              <a:t>MATHEMATICAL ANALYSIS FOR RECURSIVE ALGORITHMS</a:t>
            </a:r>
            <a:endParaRPr b="1"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General Plan for Analyzing the Time Efficiency of Recursive Algorithms</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t/>
            </a:r>
            <a:endParaRPr b="0" i="0" sz="21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1. Decide on a parameter (or parameters) indicating an input's size.</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2. Identify the algorithm's basic operation.</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3. Check whether the number of times the basic operation is executed can vary on different</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inputs of the same size; if it can, the worst-case, average-case, and best-case efficiencies</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must be investigated separately.</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4. Set up a recurrence relation, with an appropriate initial condition, for the number of times</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chemeClr val="dk1"/>
              </a:buClr>
              <a:buSzPts val="1100"/>
              <a:buFont typeface="Arial"/>
              <a:buNone/>
            </a:pPr>
            <a:r>
              <a:rPr b="0" i="0" lang="en-US" sz="2100" u="none" cap="none" strike="noStrike">
                <a:solidFill>
                  <a:schemeClr val="dk1"/>
                </a:solidFill>
                <a:highlight>
                  <a:srgbClr val="FFFFFF"/>
                </a:highlight>
                <a:latin typeface="Roboto"/>
                <a:ea typeface="Roboto"/>
                <a:cs typeface="Roboto"/>
                <a:sym typeface="Roboto"/>
              </a:rPr>
              <a:t>the basic operation is executed.</a:t>
            </a:r>
            <a:endParaRPr b="0" i="0" sz="2100" u="none" cap="none" strike="noStrike">
              <a:solidFill>
                <a:schemeClr val="dk1"/>
              </a:solidFill>
              <a:highlight>
                <a:srgbClr val="FFFFFF"/>
              </a:highlight>
              <a:latin typeface="Roboto"/>
              <a:ea typeface="Roboto"/>
              <a:cs typeface="Roboto"/>
              <a:sym typeface="Roboto"/>
            </a:endParaRPr>
          </a:p>
          <a:p>
            <a:pPr indent="0" lvl="0" marL="0" marR="0" rtl="0" algn="just">
              <a:lnSpc>
                <a:spcPct val="100000"/>
              </a:lnSpc>
              <a:spcBef>
                <a:spcPts val="0"/>
              </a:spcBef>
              <a:spcAft>
                <a:spcPts val="0"/>
              </a:spcAft>
              <a:buClr>
                <a:srgbClr val="000000"/>
              </a:buClr>
              <a:buSzPts val="2100"/>
              <a:buFont typeface="Arial"/>
              <a:buNone/>
            </a:pPr>
            <a:r>
              <a:rPr b="0" i="0" lang="en-US" sz="2100" u="none" cap="none" strike="noStrike">
                <a:solidFill>
                  <a:schemeClr val="dk1"/>
                </a:solidFill>
                <a:highlight>
                  <a:srgbClr val="FFFFFF"/>
                </a:highlight>
                <a:latin typeface="Roboto"/>
                <a:ea typeface="Roboto"/>
                <a:cs typeface="Roboto"/>
                <a:sym typeface="Roboto"/>
              </a:rPr>
              <a:t>5. Solve the recurrence or, at least, ascertain the order of growth of its solution</a:t>
            </a:r>
            <a:r>
              <a:rPr b="0" i="0" lang="en-US" sz="2100" u="none" cap="none" strike="noStrike">
                <a:solidFill>
                  <a:srgbClr val="0000FF"/>
                </a:solidFill>
                <a:highlight>
                  <a:srgbClr val="FFFFFF"/>
                </a:highlight>
                <a:latin typeface="Roboto"/>
                <a:ea typeface="Roboto"/>
                <a:cs typeface="Roboto"/>
                <a:sym typeface="Roboto"/>
              </a:rPr>
              <a:t>.</a:t>
            </a:r>
            <a:endParaRPr b="1"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255f986635b_0_1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74" name="Google Shape;774;g255f986635b_0_17"/>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75" name="Google Shape;775;g255f986635b_0_1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76" name="Google Shape;776;g255f986635b_0_1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77" name="Google Shape;777;g255f986635b_0_1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g255f986635b_0_1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g255f986635b_0_1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80" name="Google Shape;780;g255f986635b_0_1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81" name="Google Shape;781;g255f986635b_0_1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82" name="Google Shape;782;g255f986635b_0_17"/>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83" name="Google Shape;783;g255f986635b_0_17"/>
          <p:cNvSpPr txBox="1"/>
          <p:nvPr/>
        </p:nvSpPr>
        <p:spPr>
          <a:xfrm>
            <a:off x="197800" y="1181325"/>
            <a:ext cx="8249100" cy="36987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highlight>
                  <a:srgbClr val="FFFFFF"/>
                </a:highlight>
                <a:latin typeface="Roboto"/>
                <a:ea typeface="Roboto"/>
                <a:cs typeface="Roboto"/>
                <a:sym typeface="Roboto"/>
              </a:rPr>
              <a:t>Recursive Evaluation of n! (factorial)</a:t>
            </a:r>
            <a:endParaRPr b="1" i="0" sz="2100" u="none" cap="none" strike="noStrike">
              <a:solidFill>
                <a:srgbClr val="C00000"/>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300"/>
              <a:buFont typeface="Arial"/>
              <a:buNone/>
            </a:pPr>
            <a:r>
              <a:rPr b="0" i="0" lang="en-US" sz="2300" u="none" cap="none" strike="noStrike">
                <a:solidFill>
                  <a:schemeClr val="dk1"/>
                </a:solidFill>
                <a:highlight>
                  <a:srgbClr val="FFFFFF"/>
                </a:highlight>
                <a:latin typeface="Roboto"/>
                <a:ea typeface="Roboto"/>
                <a:cs typeface="Roboto"/>
                <a:sym typeface="Roboto"/>
              </a:rPr>
              <a:t>Definition: n! = 1 * 2 * ... *(n-1) * n for n 1 and 0! = 1</a:t>
            </a:r>
            <a:endParaRPr b="0" i="0" sz="2300" u="none" cap="none" strike="noStrike">
              <a:solidFill>
                <a:schemeClr val="dk1"/>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200"/>
              <a:buFont typeface="Arial"/>
              <a:buNone/>
            </a:pPr>
            <a:r>
              <a:rPr b="0" i="0" lang="en-US" sz="2200" u="none" cap="none" strike="noStrike">
                <a:solidFill>
                  <a:schemeClr val="dk1"/>
                </a:solidFill>
                <a:highlight>
                  <a:srgbClr val="FFFFFF"/>
                </a:highlight>
                <a:latin typeface="Roboto"/>
                <a:ea typeface="Roboto"/>
                <a:cs typeface="Roboto"/>
                <a:sym typeface="Roboto"/>
              </a:rPr>
              <a:t>Recursive definition of n! :  F(n) = F(n-1)*n  for n &gt;= 1 and F(0) = 1</a:t>
            </a:r>
            <a:endParaRPr b="0" i="0" sz="2200" u="none" cap="none" strike="noStrike">
              <a:solidFill>
                <a:schemeClr val="dk1"/>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300"/>
              <a:buFont typeface="Arial"/>
              <a:buNone/>
            </a:pPr>
            <a:r>
              <a:t/>
            </a:r>
            <a:endParaRPr b="0" i="0" sz="2300" u="none" cap="none" strike="noStrike">
              <a:solidFill>
                <a:srgbClr val="0000FF"/>
              </a:solidFill>
              <a:highlight>
                <a:srgbClr val="FFFFFF"/>
              </a:highlight>
              <a:latin typeface="Roboto"/>
              <a:ea typeface="Roboto"/>
              <a:cs typeface="Roboto"/>
              <a:sym typeface="Roboto"/>
            </a:endParaRPr>
          </a:p>
          <a:p>
            <a:pPr indent="0" lvl="0" marL="0" marR="0" rtl="0" algn="l">
              <a:lnSpc>
                <a:spcPct val="100000"/>
              </a:lnSpc>
              <a:spcBef>
                <a:spcPts val="900"/>
              </a:spcBef>
              <a:spcAft>
                <a:spcPts val="0"/>
              </a:spcAft>
              <a:buClr>
                <a:srgbClr val="000000"/>
              </a:buClr>
              <a:buSzPts val="2000"/>
              <a:buFont typeface="Arial"/>
              <a:buNone/>
            </a:pPr>
            <a:r>
              <a:t/>
            </a:r>
            <a:endParaRPr b="1"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255f986635b_0_3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89" name="Google Shape;789;g255f986635b_0_32"/>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90" name="Google Shape;790;g255f986635b_0_3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91" name="Google Shape;791;g255f986635b_0_3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92" name="Google Shape;792;g255f986635b_0_3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3" name="Google Shape;793;g255f986635b_0_3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4" name="Google Shape;794;g255f986635b_0_3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95" name="Google Shape;795;g255f986635b_0_3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96" name="Google Shape;796;g255f986635b_0_32"/>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97" name="Google Shape;797;g255f986635b_0_32"/>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98" name="Google Shape;798;g255f986635b_0_32"/>
          <p:cNvSpPr txBox="1"/>
          <p:nvPr/>
        </p:nvSpPr>
        <p:spPr>
          <a:xfrm>
            <a:off x="197800" y="1105275"/>
            <a:ext cx="8249100" cy="72960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highlight>
                  <a:srgbClr val="FFFFFF"/>
                </a:highlight>
                <a:latin typeface="Roboto"/>
                <a:ea typeface="Roboto"/>
                <a:cs typeface="Roboto"/>
                <a:sym typeface="Roboto"/>
              </a:rPr>
              <a:t>Algorithm Analysis</a:t>
            </a:r>
            <a:endParaRPr b="1" i="0" sz="2100" u="none" cap="none" strike="noStrike">
              <a:solidFill>
                <a:srgbClr val="C00000"/>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ALGORITHM F(n)</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//Computes n! recursively</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//Input: A nonnegative integer n</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//Output: The value of n!</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if n = 0 return 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else return F(n - 1)*n</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300"/>
              <a:buFont typeface="Arial"/>
              <a:buNone/>
            </a:pPr>
            <a:r>
              <a:t/>
            </a:r>
            <a:endParaRPr b="0" i="0" sz="2300" u="none" cap="none" strike="noStrike">
              <a:solidFill>
                <a:schemeClr val="dk1"/>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300"/>
              <a:buFont typeface="Arial"/>
              <a:buNone/>
            </a:pPr>
            <a:r>
              <a:t/>
            </a:r>
            <a:endParaRPr b="0" i="0" sz="2300" u="none" cap="none" strike="noStrike">
              <a:solidFill>
                <a:srgbClr val="0000FF"/>
              </a:solidFill>
              <a:highlight>
                <a:srgbClr val="FFFFFF"/>
              </a:highlight>
              <a:latin typeface="Roboto"/>
              <a:ea typeface="Roboto"/>
              <a:cs typeface="Roboto"/>
              <a:sym typeface="Roboto"/>
            </a:endParaRPr>
          </a:p>
          <a:p>
            <a:pPr indent="0" lvl="0" marL="0" marR="0" rtl="0" algn="l">
              <a:lnSpc>
                <a:spcPct val="100000"/>
              </a:lnSpc>
              <a:spcBef>
                <a:spcPts val="900"/>
              </a:spcBef>
              <a:spcAft>
                <a:spcPts val="0"/>
              </a:spcAft>
              <a:buClr>
                <a:srgbClr val="000000"/>
              </a:buClr>
              <a:buSzPts val="2000"/>
              <a:buFont typeface="Arial"/>
              <a:buNone/>
            </a:pPr>
            <a:r>
              <a:t/>
            </a:r>
            <a:endParaRPr b="1"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255f986635b_0_4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04" name="Google Shape;804;g255f986635b_0_47"/>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05" name="Google Shape;805;g255f986635b_0_4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06" name="Google Shape;806;g255f986635b_0_4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07" name="Google Shape;807;g255f986635b_0_4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8" name="Google Shape;808;g255f986635b_0_4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9" name="Google Shape;809;g255f986635b_0_4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10" name="Google Shape;810;g255f986635b_0_4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11" name="Google Shape;811;g255f986635b_0_4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12" name="Google Shape;812;g255f986635b_0_47"/>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13" name="Google Shape;813;g255f986635b_0_47"/>
          <p:cNvSpPr txBox="1"/>
          <p:nvPr/>
        </p:nvSpPr>
        <p:spPr>
          <a:xfrm>
            <a:off x="197800" y="1105275"/>
            <a:ext cx="8249100" cy="48900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Algorithm Analysis</a:t>
            </a:r>
            <a:endParaRPr b="1" i="0" sz="2100" u="none" cap="none" strike="noStrike">
              <a:solidFill>
                <a:srgbClr val="C00000"/>
              </a:solidFill>
              <a:latin typeface="Roboto"/>
              <a:ea typeface="Roboto"/>
              <a:cs typeface="Roboto"/>
              <a:sym typeface="Roboto"/>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   	1              	for n &gt; 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to compute    	to multiply</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F(n-1)         	F(n-1) by n</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+1   for n&gt;0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M(0) = 0</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M(0) = 0</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2000"/>
              <a:buFont typeface="Arial"/>
              <a:buNone/>
            </a:pPr>
            <a:r>
              <a:rPr b="0" i="0" lang="en-US" sz="2000" u="none" cap="none" strike="noStrike">
                <a:solidFill>
                  <a:schemeClr val="dk1"/>
                </a:solidFill>
                <a:highlight>
                  <a:srgbClr val="FFFFFF"/>
                </a:highlight>
                <a:latin typeface="Arial"/>
                <a:ea typeface="Arial"/>
                <a:cs typeface="Arial"/>
                <a:sym typeface="Arial"/>
              </a:rPr>
              <a:t>the calls stop when n=0   	no multiplications when n = 0</a:t>
            </a:r>
            <a:endParaRPr b="1" i="0" sz="20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255f986635b_0_6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19" name="Google Shape;819;g255f986635b_0_6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20" name="Google Shape;820;g255f986635b_0_6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21" name="Google Shape;821;g255f986635b_0_6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22" name="Google Shape;822;g255f986635b_0_6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3" name="Google Shape;823;g255f986635b_0_6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4" name="Google Shape;824;g255f986635b_0_6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25" name="Google Shape;825;g255f986635b_0_6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26" name="Google Shape;826;g255f986635b_0_6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27" name="Google Shape;827;g255f986635b_0_6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28" name="Google Shape;828;g255f986635b_0_63"/>
          <p:cNvSpPr txBox="1"/>
          <p:nvPr/>
        </p:nvSpPr>
        <p:spPr>
          <a:xfrm>
            <a:off x="197800" y="1105275"/>
            <a:ext cx="8249100" cy="48900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Algorithm Analysis</a:t>
            </a:r>
            <a:endParaRPr b="1" i="0" sz="2100" u="none" cap="none" strike="noStrike">
              <a:solidFill>
                <a:srgbClr val="C00000"/>
              </a:solidFill>
              <a:latin typeface="Roboto"/>
              <a:ea typeface="Roboto"/>
              <a:cs typeface="Roboto"/>
              <a:sym typeface="Roboto"/>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   	1              	for n &gt; 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to compute    	to multiply</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F(n-1)         	F(n-1) by n</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+1   for n&gt;0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M(0) = 0</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M(0) = 0</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2000"/>
              <a:buFont typeface="Arial"/>
              <a:buNone/>
            </a:pPr>
            <a:r>
              <a:rPr b="0" i="0" lang="en-US" sz="2000" u="none" cap="none" strike="noStrike">
                <a:solidFill>
                  <a:schemeClr val="dk1"/>
                </a:solidFill>
                <a:highlight>
                  <a:srgbClr val="FFFFFF"/>
                </a:highlight>
                <a:latin typeface="Arial"/>
                <a:ea typeface="Arial"/>
                <a:cs typeface="Arial"/>
                <a:sym typeface="Arial"/>
              </a:rPr>
              <a:t>the calls stop when n=0   	no multiplications when n = 0</a:t>
            </a:r>
            <a:endParaRPr b="1" i="0" sz="20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255f986635b_0_7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34" name="Google Shape;834;g255f986635b_0_77"/>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35" name="Google Shape;835;g255f986635b_0_7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36" name="Google Shape;836;g255f986635b_0_7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37" name="Google Shape;837;g255f986635b_0_7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8" name="Google Shape;838;g255f986635b_0_7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9" name="Google Shape;839;g255f986635b_0_7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40" name="Google Shape;840;g255f986635b_0_7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41" name="Google Shape;841;g255f986635b_0_7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42" name="Google Shape;842;g255f986635b_0_77"/>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43" name="Google Shape;843;g255f986635b_0_77"/>
          <p:cNvSpPr txBox="1"/>
          <p:nvPr/>
        </p:nvSpPr>
        <p:spPr>
          <a:xfrm>
            <a:off x="197800" y="1105275"/>
            <a:ext cx="8249100" cy="63402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Algorithm Analysis using back substitution method</a:t>
            </a:r>
            <a:endParaRPr b="1" i="0" sz="2100" u="none" cap="none" strike="noStrike">
              <a:solidFill>
                <a:srgbClr val="C00000"/>
              </a:solidFill>
              <a:latin typeface="Roboto"/>
              <a:ea typeface="Roboto"/>
              <a:cs typeface="Roboto"/>
              <a:sym typeface="Roboto"/>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 = M(n − 1)+1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M(n-1) = M(n-2) + 1;         //substitute M(n − 1) = M(n − 2) +1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M(n-2) = M(n-3)+1           //substitute M(n − 2) = M(n − 3) +1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 = [M(n-2)+1] + 1</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M(n-2) + 2</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[M(n-3)+1+2]</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M(n-3) + 3</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=M(n-n) + n</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n                           Overall time Complexity: O(n)</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255f986635b_0_9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49" name="Google Shape;849;g255f986635b_0_95"/>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50" name="Google Shape;850;g255f986635b_0_9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51" name="Google Shape;851;g255f986635b_0_9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52" name="Google Shape;852;g255f986635b_0_9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g255f986635b_0_9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g255f986635b_0_9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55" name="Google Shape;855;g255f986635b_0_9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56" name="Google Shape;856;g255f986635b_0_9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57" name="Google Shape;857;g255f986635b_0_95"/>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58" name="Google Shape;858;g255f986635b_0_95"/>
          <p:cNvSpPr txBox="1"/>
          <p:nvPr/>
        </p:nvSpPr>
        <p:spPr>
          <a:xfrm>
            <a:off x="197800" y="1105275"/>
            <a:ext cx="8864400" cy="59652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2100" u="none" cap="none" strike="noStrike">
              <a:solidFill>
                <a:srgbClr val="C00000"/>
              </a:solidFill>
              <a:latin typeface="Roboto"/>
              <a:ea typeface="Roboto"/>
              <a:cs typeface="Roboto"/>
              <a:sym typeface="Roboto"/>
            </a:endParaRPr>
          </a:p>
          <a:p>
            <a:pPr indent="0" lvl="0" marL="0" marR="0" rtl="0" algn="just">
              <a:lnSpc>
                <a:spcPct val="105882"/>
              </a:lnSpc>
              <a:spcBef>
                <a:spcPts val="29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MASTER THEOREM</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To solve a recurrence relation running time you can use many different techniques. One popular technique is to use the Master Theorem also known as the Master Method. “ In the analysis of algorithms, the master theorem provides a solution in asymptotic terms (using Big O notation) for recurrence relations of types that occur in the analysis of many divide and conquer algorithms.</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255f986635b_0_11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64" name="Google Shape;864;g255f986635b_0_111"/>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65" name="Google Shape;865;g255f986635b_0_11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66" name="Google Shape;866;g255f986635b_0_11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67" name="Google Shape;867;g255f986635b_0_11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8" name="Google Shape;868;g255f986635b_0_11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g255f986635b_0_11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70" name="Google Shape;870;g255f986635b_0_11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71" name="Google Shape;871;g255f986635b_0_11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72" name="Google Shape;872;g255f986635b_0_111"/>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73" name="Google Shape;873;g255f986635b_0_111"/>
          <p:cNvSpPr txBox="1"/>
          <p:nvPr/>
        </p:nvSpPr>
        <p:spPr>
          <a:xfrm>
            <a:off x="197800" y="1105275"/>
            <a:ext cx="8864400" cy="59652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2100" u="none" cap="none" strike="noStrike">
              <a:solidFill>
                <a:srgbClr val="C00000"/>
              </a:solidFill>
              <a:latin typeface="Roboto"/>
              <a:ea typeface="Roboto"/>
              <a:cs typeface="Roboto"/>
              <a:sym typeface="Roboto"/>
            </a:endParaRPr>
          </a:p>
          <a:p>
            <a:pPr indent="0" lvl="0" marL="0" marR="0" rtl="0" algn="just">
              <a:lnSpc>
                <a:spcPct val="105882"/>
              </a:lnSpc>
              <a:spcBef>
                <a:spcPts val="29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MASTER THEOREM</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To solve a recurrence relation running time you can use many different techniques. One popular technique is to use the Master Theorem also known as the Master Method. “ In the analysis of algorithms, the master theorem provides a solution in asymptotic terms (using Big O notation) for recurrence relations of types that occur in the analysis of many divide and conquer algorithms.</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255f986635b_0_12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79" name="Google Shape;879;g255f986635b_0_125"/>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80" name="Google Shape;880;g255f986635b_0_12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81" name="Google Shape;881;g255f986635b_0_12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82" name="Google Shape;882;g255f986635b_0_12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g255f986635b_0_12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4" name="Google Shape;884;g255f986635b_0_12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85" name="Google Shape;885;g255f986635b_0_12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86" name="Google Shape;886;g255f986635b_0_12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87" name="Google Shape;887;g255f986635b_0_125"/>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88" name="Google Shape;888;g255f986635b_0_125"/>
          <p:cNvSpPr txBox="1"/>
          <p:nvPr/>
        </p:nvSpPr>
        <p:spPr>
          <a:xfrm>
            <a:off x="197800" y="1870550"/>
            <a:ext cx="8864400" cy="251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2100" u="none" cap="none" strike="noStrike">
              <a:solidFill>
                <a:srgbClr val="C00000"/>
              </a:solidFill>
              <a:latin typeface="Roboto"/>
              <a:ea typeface="Roboto"/>
              <a:cs typeface="Roboto"/>
              <a:sym typeface="Roboto"/>
            </a:endParaRPr>
          </a:p>
          <a:p>
            <a:pPr indent="0" lvl="0" marL="0" marR="0" rtl="0" algn="just">
              <a:lnSpc>
                <a:spcPct val="100000"/>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A Relation is Said to be Recurrence relation if it is in the following form</a:t>
            </a:r>
            <a:endParaRPr b="1" i="0" sz="1900" u="none" cap="none" strike="noStrike">
              <a:solidFill>
                <a:srgbClr val="292929"/>
              </a:solidFill>
              <a:latin typeface="Arial"/>
              <a:ea typeface="Arial"/>
              <a:cs typeface="Arial"/>
              <a:sym typeface="Arial"/>
            </a:endParaRPr>
          </a:p>
          <a:p>
            <a:pPr indent="0" lvl="0" marL="0" marR="0" rtl="0" algn="just">
              <a:lnSpc>
                <a:spcPct val="100000"/>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T(n) =a T(n / b) + f(n)</a:t>
            </a:r>
            <a:endParaRPr b="1" i="0" sz="1900" u="none" cap="none" strike="noStrike">
              <a:solidFill>
                <a:srgbClr val="292929"/>
              </a:solidFill>
              <a:latin typeface="Arial"/>
              <a:ea typeface="Arial"/>
              <a:cs typeface="Arial"/>
              <a:sym typeface="Arial"/>
            </a:endParaRPr>
          </a:p>
          <a:p>
            <a:pPr indent="0" lvl="0" marL="0" marR="0" rtl="0" algn="just">
              <a:lnSpc>
                <a:spcPct val="100000"/>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In such cases As per master theorem:</a:t>
            </a:r>
            <a:endParaRPr b="1" i="0" sz="1900" u="none" cap="none" strike="noStrike">
              <a:solidFill>
                <a:srgbClr val="292929"/>
              </a:solidFill>
              <a:latin typeface="Arial"/>
              <a:ea typeface="Arial"/>
              <a:cs typeface="Arial"/>
              <a:sym typeface="Arial"/>
            </a:endParaRPr>
          </a:p>
          <a:p>
            <a:pPr indent="0" lvl="0" marL="0" marR="0" rtl="0" algn="just">
              <a:lnSpc>
                <a:spcPct val="100000"/>
              </a:lnSpc>
              <a:spcBef>
                <a:spcPts val="1300"/>
              </a:spcBef>
              <a:spcAft>
                <a:spcPts val="0"/>
              </a:spcAft>
              <a:buClr>
                <a:srgbClr val="000000"/>
              </a:buClr>
              <a:buSzPts val="1900"/>
              <a:buFont typeface="Arial"/>
              <a:buNone/>
            </a:pPr>
            <a:r>
              <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pic>
        <p:nvPicPr>
          <p:cNvPr id="889" name="Google Shape;889;g255f986635b_0_125"/>
          <p:cNvPicPr preferRelativeResize="0"/>
          <p:nvPr/>
        </p:nvPicPr>
        <p:blipFill rotWithShape="1">
          <a:blip r:embed="rId5">
            <a:alphaModFix/>
          </a:blip>
          <a:srcRect b="0" l="0" r="0" t="0"/>
          <a:stretch/>
        </p:blipFill>
        <p:spPr>
          <a:xfrm>
            <a:off x="354838" y="3368063"/>
            <a:ext cx="7286625" cy="27717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g255f986635b_0_14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95" name="Google Shape;895;g255f986635b_0_140"/>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96" name="Google Shape;896;g255f986635b_0_14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97" name="Google Shape;897;g255f986635b_0_14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98" name="Google Shape;898;g255f986635b_0_14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9" name="Google Shape;899;g255f986635b_0_14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0" name="Google Shape;900;g255f986635b_0_14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01" name="Google Shape;901;g255f986635b_0_14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02" name="Google Shape;902;g255f986635b_0_140"/>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03" name="Google Shape;903;g255f986635b_0_140"/>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04" name="Google Shape;904;g255f986635b_0_140"/>
          <p:cNvSpPr txBox="1"/>
          <p:nvPr/>
        </p:nvSpPr>
        <p:spPr>
          <a:xfrm>
            <a:off x="92050" y="1322775"/>
            <a:ext cx="8864400" cy="251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pic>
        <p:nvPicPr>
          <p:cNvPr id="905" name="Google Shape;905;g255f986635b_0_140"/>
          <p:cNvPicPr preferRelativeResize="0"/>
          <p:nvPr/>
        </p:nvPicPr>
        <p:blipFill rotWithShape="1">
          <a:blip r:embed="rId5">
            <a:alphaModFix/>
          </a:blip>
          <a:srcRect b="0" l="0" r="0" t="0"/>
          <a:stretch/>
        </p:blipFill>
        <p:spPr>
          <a:xfrm>
            <a:off x="238125" y="2162175"/>
            <a:ext cx="7886699" cy="3887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2e68271dbcd_1_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11" name="Google Shape;911;g2e68271dbcd_1_9"/>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12" name="Google Shape;912;g2e68271dbcd_1_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13" name="Google Shape;913;g2e68271dbcd_1_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14" name="Google Shape;914;g2e68271dbcd_1_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g2e68271dbcd_1_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g2e68271dbcd_1_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17" name="Google Shape;917;g2e68271dbcd_1_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18" name="Google Shape;918;g2e68271dbcd_1_9"/>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19" name="Google Shape;919;g2e68271dbcd_1_9"/>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20" name="Google Shape;920;g2e68271dbcd_1_9"/>
          <p:cNvSpPr txBox="1"/>
          <p:nvPr/>
        </p:nvSpPr>
        <p:spPr>
          <a:xfrm>
            <a:off x="408875" y="1209200"/>
            <a:ext cx="8284800" cy="40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	Problem: T (n) = 3T (n/2) + n</a:t>
            </a:r>
            <a:r>
              <a:rPr b="0" baseline="30000" i="0" lang="en-US" sz="2800" u="none" cap="none" strike="noStrike">
                <a:solidFill>
                  <a:schemeClr val="dk1"/>
                </a:solidFill>
                <a:latin typeface="Calibri"/>
                <a:ea typeface="Calibri"/>
                <a:cs typeface="Calibri"/>
                <a:sym typeface="Calibri"/>
              </a:rPr>
              <a:t>2</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Solution:T (n) = Θ(n</a:t>
            </a:r>
            <a:r>
              <a:rPr b="0" baseline="30000" i="0" lang="en-US" sz="2800" u="none" cap="none" strike="noStrike">
                <a:solidFill>
                  <a:schemeClr val="dk1"/>
                </a:solidFill>
                <a:latin typeface="Calibri"/>
                <a:ea typeface="Calibri"/>
                <a:cs typeface="Calibri"/>
                <a:sym typeface="Calibri"/>
              </a:rPr>
              <a:t>2</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2)Problem:T (n) = 4T (n/2) + n</a:t>
            </a:r>
            <a:r>
              <a:rPr b="0" baseline="30000" i="0" lang="en-US" sz="2800" u="none" cap="none" strike="noStrike">
                <a:solidFill>
                  <a:schemeClr val="dk1"/>
                </a:solidFill>
                <a:latin typeface="Calibri"/>
                <a:ea typeface="Calibri"/>
                <a:cs typeface="Calibri"/>
                <a:sym typeface="Calibri"/>
              </a:rPr>
              <a:t> 2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Solution:T(n) = Θ(n</a:t>
            </a:r>
            <a:r>
              <a:rPr b="0" baseline="30000" i="0" lang="en-US" sz="2800" u="none" cap="none" strike="noStrike">
                <a:solidFill>
                  <a:schemeClr val="dk1"/>
                </a:solidFill>
                <a:latin typeface="Calibri"/>
                <a:ea typeface="Calibri"/>
                <a:cs typeface="Calibri"/>
                <a:sym typeface="Calibri"/>
              </a:rPr>
              <a:t> 2</a:t>
            </a:r>
            <a:r>
              <a:rPr b="0" i="0" lang="en-US" sz="2800" u="none" cap="none" strike="noStrike">
                <a:solidFill>
                  <a:schemeClr val="dk1"/>
                </a:solidFill>
                <a:latin typeface="Calibri"/>
                <a:ea typeface="Calibri"/>
                <a:cs typeface="Calibri"/>
                <a:sym typeface="Calibri"/>
              </a:rPr>
              <a:t> log n)</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3)Problem: T (n) = T (n/2) + 2n</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Solution:Θ(2n ) </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2e68271dbcd_1_2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26" name="Google Shape;926;g2e68271dbcd_1_26"/>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27" name="Google Shape;927;g2e68271dbcd_1_2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28" name="Google Shape;928;g2e68271dbcd_1_2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29" name="Google Shape;929;g2e68271dbcd_1_2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0" name="Google Shape;930;g2e68271dbcd_1_2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1" name="Google Shape;931;g2e68271dbcd_1_2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32" name="Google Shape;932;g2e68271dbcd_1_2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33" name="Google Shape;933;g2e68271dbcd_1_26"/>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34" name="Google Shape;934;g2e68271dbcd_1_26"/>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35" name="Google Shape;935;g2e68271dbcd_1_26"/>
          <p:cNvSpPr txBox="1"/>
          <p:nvPr/>
        </p:nvSpPr>
        <p:spPr>
          <a:xfrm>
            <a:off x="408875" y="1209200"/>
            <a:ext cx="8284800" cy="476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4) Problem:T (n) = 2</a:t>
            </a:r>
            <a:r>
              <a:rPr b="0" baseline="30000" i="0" lang="en-US" sz="2800" u="none" cap="none" strike="noStrike">
                <a:solidFill>
                  <a:schemeClr val="dk1"/>
                </a:solidFill>
                <a:latin typeface="Calibri"/>
                <a:ea typeface="Calibri"/>
                <a:cs typeface="Calibri"/>
                <a:sym typeface="Calibri"/>
              </a:rPr>
              <a:t>n</a:t>
            </a:r>
            <a:r>
              <a:rPr b="0" i="0" lang="en-US" sz="2800" u="none" cap="none" strike="noStrike">
                <a:solidFill>
                  <a:schemeClr val="dk1"/>
                </a:solidFill>
                <a:latin typeface="Calibri"/>
                <a:ea typeface="Calibri"/>
                <a:cs typeface="Calibri"/>
                <a:sym typeface="Calibri"/>
              </a:rPr>
              <a:t>T (n/2) + n</a:t>
            </a:r>
            <a:r>
              <a:rPr b="0" baseline="30000" i="0" lang="en-US" sz="2800" u="none" cap="none" strike="noStrike">
                <a:solidFill>
                  <a:schemeClr val="dk1"/>
                </a:solidFill>
                <a:latin typeface="Calibri"/>
                <a:ea typeface="Calibri"/>
                <a:cs typeface="Calibri"/>
                <a:sym typeface="Calibri"/>
              </a:rPr>
              <a:t> n</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Solution:Does not apply (a is not constant)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5) Problem:T (n) = 16T (n/4) + n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Solution:T (n) = Θ(n 2 ) </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2018-03-07T17:43:46Z</dcterms:created>
  <dc:creator>User</dc:creator>
</cp:coreProperties>
</file>